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elcome" id="{12cc3ae2-9b0c-f0ea-5a79-89a760dc1b5d}">
          <p14:sldIdLst>
            <p14:sldId id="256"/>
            <p14:sldId id="257"/>
          </p14:sldIdLst>
        </p14:section>
        <p14:section name="What is AI" id="{d7cd84f4-f5ef-3e02-b306-09f7f7969d93}">
          <p14:sldIdLst>
            <p14:sldId id="258"/>
            <p14:sldId id="259"/>
          </p14:sldIdLst>
        </p14:section>
        <p14:section name="Activity 1: Draw" id="{12947a5c-f533-a5f7-c98d-3d1363aad6dd}">
          <p14:sldIdLst>
            <p14:sldId id="260"/>
            <p14:sldId id="261"/>
          </p14:sldIdLst>
        </p14:section>
        <p14:section name="Activity 2: Train" id="{f8f17047-d88f-5539-37a2-642fd8f88193}">
          <p14:sldIdLst>
            <p14:sldId id="262"/>
            <p14:sldId id="263"/>
          </p14:sldIdLst>
        </p14:section>
        <p14:section name="Break" id="{183a9ec4-1788-6c16-1aed-65942340347e}">
          <p14:sldIdLst>
            <p14:sldId id="264"/>
          </p14:sldIdLst>
        </p14:section>
        <p14:section name="Talking to AI" id="{1ee0128c-d867-1e0f-d4cf-ef134994d80a}">
          <p14:sldIdLst>
            <p14:sldId id="265"/>
            <p14:sldId id="266"/>
          </p14:sldIdLst>
        </p14:section>
        <p14:section name="Stay safe" id="{9cbadf4f-4687-27c7-efeb-596bb7b40451}">
          <p14:sldIdLst>
            <p14:sldId id="267"/>
            <p14:sldId id="268"/>
            <p14:sldId id="269"/>
            <p14:sldId id="270"/>
          </p14:sldIdLst>
        </p14:section>
        <p14:section name="Show and tell" id="{3586956c-ac68-94f1-e4a8-e511141abd8a}">
          <p14:sldIdLst>
            <p14:sldId id="271"/>
          </p14:sldIdLst>
        </p14:section>
        <p14:section name="What's next" id="{41230f7e-c5c7-012d-b2b5-be03f2cca33a}">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0:00–0:05 · WELCOME
Smile, introduce yourself in one line: "I'm Manish. I build websites and apps for companies, and I use AI every day."
Ask: "Raise your hand if you have used AI before." (Most hands go up or down; both are fine.)
Say: "Today you will not just hear about AI. You will TEACH a computer something yourself."
Hindi tip: "Aaj hum AI ke baare mein sirf sunenge nahi, khud computer ko kuch sikhayenge!"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0:05–0:08 · MISSION
Walk through the 5 steps quickly. Tell them there is a break in the middle and a "show and tell" at the end.
Set two class rules: (1) when the hand goes up, everyone goes quiet; (2) everyone gets a turn on the computer.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0:08–0:15 · GAME: AI OR NOT AI?
Read each card. Students show THUMBS UP for AI, THUMBS DOWN for not AI.
Answers:
- YouTube suggestions: AI (it learns from what millions of people watch).
- Calculator: NOT AI (it follows fixed rules, it never learns).
- Google Maps faster road: AI (it learns traffic patterns).
- Light switch: NOT AI.
- Face unlock: AI (it learned your face from examples).
- Alarm clock: NOT AI (it just follows a time you set).
Key idea to say out loud: "If it LEARNS from examples, it is AI. If it only follows fixed rules, it is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0:15–0:20 · WHAT IS AI
Say: "How did YOU learn what a dog is? Nobody gave you a rule. You saw many dogs, and your brain found the pattern. AI learns the same way: many examples, find the pattern, make a guess."
Important: "AI makes GUESSES. Guesses can be wrong. Remember this, we'll come back to it."
Hindi tip: "AI bahut saare examples dekh kar pattern pehchanta hai, aur phir andaza lagata hai."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0:20–0:35 · QUICK, DRAW!
Before class: open quickdraw.withgoogle.com on every computer and test it.
Demo one round yourself on the projector first.
Pairs: one draws, one watches, then swap. 6 drawings per round.
Walk around and ask: "Why do you think it guessed THAT?"
Note: Google may keep the drawings (without names) to improve the game. Tell students not to write names or personal details.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0:35–0:40 · DISCUSS
Ask 2–3 pairs: "What did it guess right? What did it get wrong? Why?"
Lead them to the lesson: more and better examples = better AI. Bad or few examples = wrong guesses.
Bridge: "Now YOU will be the teacher and give the computer its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0:40–1:00 · TEACHABLE MACHINE (main activity)
Needs a webcam. Test in the lab before class.
Demo all 5 steps on the projector first (3 minutes), then groups do it.
Each person in the group records one class, so everyone gets a turn.
If a group finishes early: add a 4th class "Nothing" (empty background) and see if accuracy improves.
Backup if no webcams: use "Upload" and pictures of 3 objects from the internet (e.g. apple, banana, mango) saved to a folder in advance.
Privacy: Teachable Machine trains inside the browser; images are not uploaded unless you choose to save the project.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(Show during the activity, around 0:50)
When groups say "it keeps getting it wrong", point to this slide.
Ask: "What did we learn from Quick, Draw? Better examples = better AI." Let them retrain and test again.
This is the real lesson of the day: THEY controlled how smart the AI became.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1:00–1:10 · BREAK
Use the break to check every computer is still logged out of anything personal and close Teachable Machine tabs (or leave them open for show and tell).
Set up the chatbot on the projector laptop (teacher account only).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1:10–1:15 · GOOD QUESTIONS (PROMPTS)
Explain: chatbots like ChatGPT and Gemini learned from huge amounts of text, and they predict words one by one.
IMPORTANT: Most chatbots are for age 13+. Students do NOT log in. Only YOU type, on the projector, using your own account.
Type both prompts live and compare the answers. Ask: "Which answer is more useful? Why?"
Formula to write on the board: WHO is it for + WHAT you want + HOW (length or format).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1:15–1:25 · PROMPT CHALLENGE
Run 2–3 of these, then let students suggest their own (write them on the board first, check they are appropriate, then type).
After each answer ask: "Is this answer correct? How can we check?"
Keep the quiz one: it shows how AI can help with practice, not copying.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1:25–1:30 · AI MISTAKES
Live demo idea: ask the chatbot a tricky question about something local or very recent (e.g. "Who won our school's sports day last year?"). It may invent an answer or admit it doesn't know. Either way, discuss.
Say: "AI is like a very fast friend who sometimes guesses. Always check important things."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1:30–1:37 · DEEPFAKES
Before class: prepare 4–6 pictures (half real photos, half AI-generated) in a folder. Show them one by one; students vote "real" or "fake".
Use the 4 clues to explain. Then the serious point: making fake pictures of classmates or teachers is hurtful and can be against the law. Tell an adult if you see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1:37–1:42 · GOLDEN RULES
Read each rule and ask a student to give an example of breaking it and following it.
Rule 3 matters to parents and teachers: say it clearly.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1:42–1:45 · PLEDGE
Everyone stands and repeats the pledge together. It is a fun, memorable moment, and teachers love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1:45–1:55 · SHOW AND TELL
Each group comes up (or you walk to each computer) for 1 minute.
Take a few photos of the students' SCREENS (not faces) for your records, only if the school allows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1:55–2:00 · CLOSE
Thank the students and the school.
Hand out the parents' sheet. Say: "If you enjoyed today, show this to your parents. The first 20 students get free admission."
Don't do a hard sell to children. Keep it short and friendly; the parents decide.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11111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417320"/>
            <a:ext cx="8046720" cy="1371600"/>
          </a:xfrm>
          <a:prstGeom prst="rect">
            <a:avLst/>
          </a:prstGeom>
          <a:noFill/>
          <a:ln/>
        </p:spPr>
        <p:txBody>
          <a:bodyPr wrap="square" rtlCol="0"/>
          <a:lstStyle>
            <a:lvl1pPr algn="l" indent="0" marL="0">
              <a:buNone/>
              <a:defRPr lang="en-US" sz="4400" b="1" dirty="0">
                <a:solidFill>
                  <a:schemeClr val="bg1"/>
                </a:solidFill>
                <a:latin typeface="Arial" pitchFamily="34" charset="0"/>
                <a:ea typeface="Arial" pitchFamily="34" charset="-122"/>
                <a:cs typeface="Arial" pitchFamily="34" charset="-120"/>
              </a:defRPr>
            </a:lvl1pPr>
          </a:lstStyle>
          <a:p>
            <a:pPr algn="l" indent="0" marL="0">
              <a:buNone/>
            </a:pPr>
            <a:endParaRPr lang="en-US" sz="4400" dirty="0"/>
          </a:p>
        </p:txBody>
      </p:sp>
      <p:sp>
        <p:nvSpPr>
          <p:cNvPr id="3" name="Text 0"/>
          <p:cNvSpPr/>
          <p:nvPr>
            <p:ph idx="101" type="body" hasCustomPrompt="1"/>
          </p:nvPr>
        </p:nvSpPr>
        <p:spPr>
          <a:xfrm>
            <a:off x="548640" y="2880360"/>
            <a:ext cx="8046720" cy="914400"/>
          </a:xfrm>
          <a:prstGeom prst="rect">
            <a:avLst/>
          </a:prstGeom>
          <a:noFill/>
          <a:ln/>
        </p:spPr>
        <p:txBody>
          <a:bodyPr wrap="square" rtlCol="0"/>
          <a:lstStyle>
            <a:lvl1pPr algn="l" indent="0" marL="0">
              <a:buNone/>
              <a:defRPr lang="en-US" sz="2000" dirty="0">
                <a:solidFill>
                  <a:schemeClr val="accent2"/>
                </a:solidFill>
              </a:defRPr>
            </a:lvl1pPr>
          </a:lstStyle>
          <a:p>
            <a:pPr algn="l" indent="0" marL="0">
              <a:buNone/>
            </a:pPr>
            <a:endParaRPr lang="en-US" sz="20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200" b="1" dirty="0">
                <a:solidFill>
                  <a:schemeClr val="tx1"/>
                </a:solidFill>
                <a:latin typeface="Arial" pitchFamily="34" charset="0"/>
                <a:ea typeface="Arial" pitchFamily="34" charset="-122"/>
                <a:cs typeface="Arial" pitchFamily="34" charset="-120"/>
              </a:defRPr>
            </a:lvl1pPr>
          </a:lstStyle>
          <a:p>
            <a:pPr indent="0" marL="0">
              <a:buNone/>
            </a:pPr>
            <a:endParaRPr lang="en-US" sz="3200" dirty="0"/>
          </a:p>
        </p:txBody>
      </p:sp>
      <p:sp>
        <p:nvSpPr>
          <p:cNvPr id="3" name="Text 0"/>
          <p:cNvSpPr/>
          <p:nvPr/>
        </p:nvSpPr>
        <p:spPr>
          <a:xfrm>
            <a:off x="457200" y="4773168"/>
            <a:ext cx="5486400" cy="228600"/>
          </a:xfrm>
          <a:prstGeom prst="rect">
            <a:avLst/>
          </a:prstGeom>
          <a:noFill/>
          <a:ln/>
        </p:spPr>
        <p:txBody>
          <a:bodyPr wrap="square" rtlCol="0" anchor="ctr"/>
          <a:lstStyle/>
          <a:p>
            <a:pPr indent="0" marL="0">
              <a:buNone/>
            </a:pPr>
            <a:r>
              <a:rPr lang="en-US" sz="900" dirty="0">
                <a:solidFill>
                  <a:schemeClr val="tx2"/>
                </a:solidFill>
              </a:rPr>
              <a:t>Manish Chauhan · themanishchauhan.in/ai-courses</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ACTIVITY">
    <p:bg>
      <p:bgPr>
        <a:solidFill>
          <a:srgbClr val="FFF1EA"/>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lstStyle>
            <a:lvl1pPr indent="0" marL="0">
              <a:buNone/>
              <a:defRPr lang="en-US" sz="3200" b="1" dirty="0">
                <a:solidFill>
                  <a:schemeClr val="tx1"/>
                </a:solidFill>
                <a:latin typeface="Arial" pitchFamily="34" charset="0"/>
                <a:ea typeface="Arial" pitchFamily="34" charset="-122"/>
                <a:cs typeface="Arial" pitchFamily="34" charset="-120"/>
              </a:defRPr>
            </a:lvl1pPr>
          </a:lstStyle>
          <a:p>
            <a:pPr indent="0" marL="0">
              <a:buNone/>
            </a:pPr>
            <a:endParaRPr lang="en-US" sz="3200" dirty="0"/>
          </a:p>
        </p:txBody>
      </p:sp>
      <p:sp>
        <p:nvSpPr>
          <p:cNvPr id="3" name="Text 0"/>
          <p:cNvSpPr/>
          <p:nvPr/>
        </p:nvSpPr>
        <p:spPr>
          <a:xfrm>
            <a:off x="457200" y="4773168"/>
            <a:ext cx="5486400" cy="228600"/>
          </a:xfrm>
          <a:prstGeom prst="rect">
            <a:avLst/>
          </a:prstGeom>
          <a:noFill/>
          <a:ln/>
        </p:spPr>
        <p:txBody>
          <a:bodyPr wrap="square" rtlCol="0" anchor="ctr"/>
          <a:lstStyle/>
          <a:p>
            <a:pPr indent="0" marL="0">
              <a:buNone/>
            </a:pPr>
            <a:r>
              <a:rPr lang="en-US" sz="900" dirty="0">
                <a:solidFill>
                  <a:schemeClr val="tx2"/>
                </a:solidFill>
              </a:rPr>
              <a:t>Manish Chauhan · themanishchauhan.in/ai-courses</a:t>
            </a:r>
            <a:endParaRPr lang="en-US" sz="9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slideLayout" Target="../slideLayouts/slideLayout4.xml"/><Relationship Id="rId8"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3.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4.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3.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3.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slideLayout" Target="../slideLayouts/slideLayout4.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slideLayout" Target="../slideLayouts/slideLayout4.xml"/><Relationship Id="rId6"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slideLayout" Target="../slideLayouts/slideLayout3.xml"/><Relationship Id="rId7"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circle-1"/>
          <p:cNvSpPr/>
          <p:nvPr/>
        </p:nvSpPr>
        <p:spPr>
          <a:xfrm>
            <a:off x="6903720" y="502920"/>
            <a:ext cx="1463040" cy="1463040"/>
          </a:xfrm>
          <a:prstGeom prst="ellipse">
            <a:avLst/>
          </a:prstGeom>
          <a:solidFill>
            <a:schemeClr val="accent1"/>
          </a:solidFill>
          <a:ln/>
        </p:spPr>
      </p:sp>
      <p:pic>
        <p:nvPicPr>
          <p:cNvPr id="3" name="icon-2" descr="preencoded.png">    </p:cNvPr>
          <p:cNvPicPr>
            <a:picLocks noChangeAspect="1"/>
          </p:cNvPicPr>
          <p:nvPr/>
        </p:nvPicPr>
        <p:blipFill>
          <a:blip r:embed="rId1"/>
          <a:stretch>
            <a:fillRect/>
          </a:stretch>
        </p:blipFill>
        <p:spPr>
          <a:xfrm>
            <a:off x="7298741" y="897941"/>
            <a:ext cx="672998" cy="672998"/>
          </a:xfrm>
          <a:prstGeom prst="rect">
            <a:avLst/>
          </a:prstGeom>
        </p:spPr>
      </p:pic>
      <p:sp>
        <p:nvSpPr>
          <p:cNvPr id="4" name="Text 0"/>
          <p:cNvSpPr/>
          <p:nvPr>
            <p:ph idx="100" type="title" hasCustomPrompt="1"/>
          </p:nvPr>
        </p:nvSpPr>
        <p:spPr>
          <a:xfrm>
            <a:off x="548640" y="1417320"/>
            <a:ext cx="8046720" cy="1371600"/>
          </a:xfrm>
          <a:prstGeom prst="rect">
            <a:avLst/>
          </a:prstGeom>
          <a:noFill/>
          <a:ln/>
        </p:spPr>
        <p:txBody>
          <a:bodyPr wrap="square" rtlCol="0" anchor="t"/>
          <a:lstStyle/>
          <a:p>
            <a:pPr algn="l" indent="0" marL="0">
              <a:buNone/>
            </a:pPr>
            <a:r>
              <a:rPr lang="en-US" sz="4400" b="1" dirty="0">
                <a:solidFill>
                  <a:schemeClr val="bg1"/>
                </a:solidFill>
                <a:latin typeface="Arial" pitchFamily="34" charset="0"/>
                <a:ea typeface="Arial" pitchFamily="34" charset="-122"/>
                <a:cs typeface="Arial" pitchFamily="34" charset="-120"/>
              </a:rPr>
              <a:t>Let's Learn AI!</a:t>
            </a:r>
            <a:endParaRPr lang="en-US" sz="4400" dirty="0"/>
          </a:p>
        </p:txBody>
      </p:sp>
      <p:sp>
        <p:nvSpPr>
          <p:cNvPr id="5" name="Text 0"/>
          <p:cNvSpPr/>
          <p:nvPr>
            <p:ph idx="101" type="body" hasCustomPrompt="1"/>
          </p:nvPr>
        </p:nvSpPr>
        <p:spPr>
          <a:xfrm>
            <a:off x="548640" y="2880360"/>
            <a:ext cx="8046720" cy="914400"/>
          </a:xfrm>
          <a:prstGeom prst="rect">
            <a:avLst/>
          </a:prstGeom>
          <a:noFill/>
          <a:ln/>
        </p:spPr>
        <p:txBody>
          <a:bodyPr wrap="square" rtlCol="0" anchor="t"/>
          <a:lstStyle/>
          <a:p>
            <a:pPr algn="l" indent="0" marL="0">
              <a:buNone/>
            </a:pPr>
            <a:r>
              <a:rPr lang="en-US" sz="2000" dirty="0">
                <a:solidFill>
                  <a:schemeClr val="accent2"/>
                </a:solidFill>
              </a:rPr>
              <a:t>Free AI Workshop · Classes 6–8 · 2 hours of making, guessing and playing</a:t>
            </a:r>
            <a:endParaRPr lang="en-US" sz="2000" dirty="0"/>
          </a:p>
        </p:txBody>
      </p:sp>
      <p:sp>
        <p:nvSpPr>
          <p:cNvPr id="6" name="Text 3"/>
          <p:cNvSpPr txBox="1"/>
          <p:nvPr/>
        </p:nvSpPr>
        <p:spPr>
          <a:xfrm>
            <a:off x="548640" y="4069080"/>
            <a:ext cx="5486400" cy="365760"/>
          </a:xfrm>
          <a:prstGeom prst="rect">
            <a:avLst/>
          </a:prstGeom>
          <a:noFill/>
          <a:ln/>
        </p:spPr>
        <p:txBody>
          <a:bodyPr wrap="square" lIns="0" tIns="0" rIns="0" bIns="0" rtlCol="0" anchor="ctr"/>
          <a:lstStyle/>
          <a:p>
            <a:pPr indent="0" marL="0">
              <a:buNone/>
            </a:pPr>
            <a:r>
              <a:rPr lang="en-US" sz="1400" dirty="0">
                <a:solidFill>
                  <a:schemeClr val="bg1"/>
                </a:solidFill>
              </a:rPr>
              <a:t>with Manish Chauhan, software developer</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Today's mission</a:t>
            </a:r>
            <a:endParaRPr lang="en-US" sz="3200" dirty="0"/>
          </a:p>
        </p:txBody>
      </p:sp>
      <p:sp>
        <p:nvSpPr>
          <p:cNvPr id="3" name="card-3"/>
          <p:cNvSpPr/>
          <p:nvPr/>
        </p:nvSpPr>
        <p:spPr>
          <a:xfrm>
            <a:off x="457200" y="1234440"/>
            <a:ext cx="1508760" cy="3108960"/>
          </a:xfrm>
          <a:prstGeom prst="roundRect">
            <a:avLst>
              <a:gd name="adj" fmla="val 7273"/>
            </a:avLst>
          </a:prstGeom>
          <a:solidFill>
            <a:schemeClr val="bg2"/>
          </a:solidFill>
          <a:ln/>
        </p:spPr>
      </p:sp>
      <p:sp>
        <p:nvSpPr>
          <p:cNvPr id="4" name="circle-4"/>
          <p:cNvSpPr/>
          <p:nvPr/>
        </p:nvSpPr>
        <p:spPr>
          <a:xfrm>
            <a:off x="804672" y="1463040"/>
            <a:ext cx="822960" cy="822960"/>
          </a:xfrm>
          <a:prstGeom prst="ellipse">
            <a:avLst/>
          </a:prstGeom>
          <a:solidFill>
            <a:schemeClr val="accent2"/>
          </a:solidFill>
          <a:ln/>
        </p:spPr>
      </p:sp>
      <p:pic>
        <p:nvPicPr>
          <p:cNvPr id="5" name="icon-5" descr="preencoded.png">    </p:cNvPr>
          <p:cNvPicPr>
            <a:picLocks noChangeAspect="1"/>
          </p:cNvPicPr>
          <p:nvPr/>
        </p:nvPicPr>
        <p:blipFill>
          <a:blip r:embed="rId1"/>
          <a:stretch>
            <a:fillRect/>
          </a:stretch>
        </p:blipFill>
        <p:spPr>
          <a:xfrm>
            <a:off x="1026871" y="1685239"/>
            <a:ext cx="378562" cy="378562"/>
          </a:xfrm>
          <a:prstGeom prst="rect">
            <a:avLst/>
          </a:prstGeom>
        </p:spPr>
      </p:pic>
      <p:sp>
        <p:nvSpPr>
          <p:cNvPr id="6" name="Text 3"/>
          <p:cNvSpPr txBox="1"/>
          <p:nvPr/>
        </p:nvSpPr>
        <p:spPr>
          <a:xfrm>
            <a:off x="548640" y="2468880"/>
            <a:ext cx="1325880" cy="411480"/>
          </a:xfrm>
          <a:prstGeom prst="rect">
            <a:avLst/>
          </a:prstGeom>
          <a:noFill/>
          <a:ln/>
        </p:spPr>
        <p:txBody>
          <a:bodyPr wrap="square" lIns="0" tIns="0" rIns="0" bIns="0" rtlCol="0" anchor="ctr"/>
          <a:lstStyle/>
          <a:p>
            <a:pPr algn="ctr" indent="0" marL="0">
              <a:buNone/>
            </a:pPr>
            <a:r>
              <a:rPr lang="en-US" sz="1800" b="1" dirty="0">
                <a:solidFill>
                  <a:schemeClr val="tx1"/>
                </a:solidFill>
              </a:rPr>
              <a:t>1. Guess</a:t>
            </a:r>
            <a:endParaRPr lang="en-US" sz="1800" dirty="0"/>
          </a:p>
        </p:txBody>
      </p:sp>
      <p:sp>
        <p:nvSpPr>
          <p:cNvPr id="7" name="Text 4"/>
          <p:cNvSpPr txBox="1"/>
          <p:nvPr/>
        </p:nvSpPr>
        <p:spPr>
          <a:xfrm>
            <a:off x="566928" y="2926080"/>
            <a:ext cx="1289304" cy="1097280"/>
          </a:xfrm>
          <a:prstGeom prst="rect">
            <a:avLst/>
          </a:prstGeom>
          <a:noFill/>
          <a:ln/>
        </p:spPr>
        <p:txBody>
          <a:bodyPr wrap="square" lIns="0" tIns="0" rIns="0" bIns="0" rtlCol="0" anchor="t"/>
          <a:lstStyle/>
          <a:p>
            <a:pPr algn="ctr" indent="0" marL="0">
              <a:buNone/>
            </a:pPr>
            <a:r>
              <a:rPr lang="en-US" sz="1400" dirty="0">
                <a:solidFill>
                  <a:schemeClr val="tx2"/>
                </a:solidFill>
              </a:rPr>
              <a:t>Is it AI or not?</a:t>
            </a:r>
            <a:endParaRPr lang="en-US" sz="1400" dirty="0"/>
          </a:p>
        </p:txBody>
      </p:sp>
      <p:sp>
        <p:nvSpPr>
          <p:cNvPr id="8" name="card-6"/>
          <p:cNvSpPr/>
          <p:nvPr/>
        </p:nvSpPr>
        <p:spPr>
          <a:xfrm>
            <a:off x="2121408" y="1234440"/>
            <a:ext cx="1508760" cy="3108960"/>
          </a:xfrm>
          <a:prstGeom prst="roundRect">
            <a:avLst>
              <a:gd name="adj" fmla="val 7273"/>
            </a:avLst>
          </a:prstGeom>
          <a:solidFill>
            <a:schemeClr val="bg2"/>
          </a:solidFill>
          <a:ln/>
        </p:spPr>
      </p:sp>
      <p:sp>
        <p:nvSpPr>
          <p:cNvPr id="9" name="circle-7"/>
          <p:cNvSpPr/>
          <p:nvPr/>
        </p:nvSpPr>
        <p:spPr>
          <a:xfrm>
            <a:off x="2468880" y="1463040"/>
            <a:ext cx="822960" cy="822960"/>
          </a:xfrm>
          <a:prstGeom prst="ellipse">
            <a:avLst/>
          </a:prstGeom>
          <a:solidFill>
            <a:schemeClr val="accent3"/>
          </a:solidFill>
          <a:ln/>
        </p:spPr>
      </p:sp>
      <p:pic>
        <p:nvPicPr>
          <p:cNvPr id="10" name="icon-8" descr="preencoded.png">    </p:cNvPr>
          <p:cNvPicPr>
            <a:picLocks noChangeAspect="1"/>
          </p:cNvPicPr>
          <p:nvPr/>
        </p:nvPicPr>
        <p:blipFill>
          <a:blip r:embed="rId2"/>
          <a:stretch>
            <a:fillRect/>
          </a:stretch>
        </p:blipFill>
        <p:spPr>
          <a:xfrm>
            <a:off x="2691079" y="1685239"/>
            <a:ext cx="378562" cy="378562"/>
          </a:xfrm>
          <a:prstGeom prst="rect">
            <a:avLst/>
          </a:prstGeom>
        </p:spPr>
      </p:pic>
      <p:sp>
        <p:nvSpPr>
          <p:cNvPr id="11" name="Text 7"/>
          <p:cNvSpPr txBox="1"/>
          <p:nvPr/>
        </p:nvSpPr>
        <p:spPr>
          <a:xfrm>
            <a:off x="2212848" y="2468880"/>
            <a:ext cx="1325880" cy="411480"/>
          </a:xfrm>
          <a:prstGeom prst="rect">
            <a:avLst/>
          </a:prstGeom>
          <a:noFill/>
          <a:ln/>
        </p:spPr>
        <p:txBody>
          <a:bodyPr wrap="square" lIns="0" tIns="0" rIns="0" bIns="0" rtlCol="0" anchor="ctr"/>
          <a:lstStyle/>
          <a:p>
            <a:pPr algn="ctr" indent="0" marL="0">
              <a:buNone/>
            </a:pPr>
            <a:r>
              <a:rPr lang="en-US" sz="1800" b="1" dirty="0">
                <a:solidFill>
                  <a:schemeClr val="tx1"/>
                </a:solidFill>
              </a:rPr>
              <a:t>2. Draw</a:t>
            </a:r>
            <a:endParaRPr lang="en-US" sz="1800" dirty="0"/>
          </a:p>
        </p:txBody>
      </p:sp>
      <p:sp>
        <p:nvSpPr>
          <p:cNvPr id="12" name="Text 8"/>
          <p:cNvSpPr txBox="1"/>
          <p:nvPr/>
        </p:nvSpPr>
        <p:spPr>
          <a:xfrm>
            <a:off x="2231136" y="2926080"/>
            <a:ext cx="1289304" cy="1097280"/>
          </a:xfrm>
          <a:prstGeom prst="rect">
            <a:avLst/>
          </a:prstGeom>
          <a:noFill/>
          <a:ln/>
        </p:spPr>
        <p:txBody>
          <a:bodyPr wrap="square" lIns="0" tIns="0" rIns="0" bIns="0" rtlCol="0" anchor="t"/>
          <a:lstStyle/>
          <a:p>
            <a:pPr algn="ctr" indent="0" marL="0">
              <a:buNone/>
            </a:pPr>
            <a:r>
              <a:rPr lang="en-US" sz="1400" dirty="0">
                <a:solidFill>
                  <a:schemeClr val="tx2"/>
                </a:solidFill>
              </a:rPr>
              <a:t>Can AI guess your drawing?</a:t>
            </a:r>
            <a:endParaRPr lang="en-US" sz="1400" dirty="0"/>
          </a:p>
        </p:txBody>
      </p:sp>
      <p:sp>
        <p:nvSpPr>
          <p:cNvPr id="13" name="card-9"/>
          <p:cNvSpPr/>
          <p:nvPr/>
        </p:nvSpPr>
        <p:spPr>
          <a:xfrm>
            <a:off x="3785616" y="1234440"/>
            <a:ext cx="1508760" cy="3108960"/>
          </a:xfrm>
          <a:prstGeom prst="roundRect">
            <a:avLst>
              <a:gd name="adj" fmla="val 7273"/>
            </a:avLst>
          </a:prstGeom>
          <a:solidFill>
            <a:schemeClr val="bg2"/>
          </a:solidFill>
          <a:ln/>
        </p:spPr>
      </p:sp>
      <p:sp>
        <p:nvSpPr>
          <p:cNvPr id="14" name="circle-10"/>
          <p:cNvSpPr/>
          <p:nvPr/>
        </p:nvSpPr>
        <p:spPr>
          <a:xfrm>
            <a:off x="4133088" y="1463040"/>
            <a:ext cx="822960" cy="822960"/>
          </a:xfrm>
          <a:prstGeom prst="ellipse">
            <a:avLst/>
          </a:prstGeom>
          <a:solidFill>
            <a:schemeClr val="accent4"/>
          </a:solidFill>
          <a:ln/>
        </p:spPr>
      </p:sp>
      <p:pic>
        <p:nvPicPr>
          <p:cNvPr id="15" name="icon-11" descr="preencoded.png">    </p:cNvPr>
          <p:cNvPicPr>
            <a:picLocks noChangeAspect="1"/>
          </p:cNvPicPr>
          <p:nvPr/>
        </p:nvPicPr>
        <p:blipFill>
          <a:blip r:embed="rId3"/>
          <a:stretch>
            <a:fillRect/>
          </a:stretch>
        </p:blipFill>
        <p:spPr>
          <a:xfrm>
            <a:off x="4355287" y="1685239"/>
            <a:ext cx="378562" cy="378562"/>
          </a:xfrm>
          <a:prstGeom prst="rect">
            <a:avLst/>
          </a:prstGeom>
        </p:spPr>
      </p:pic>
      <p:sp>
        <p:nvSpPr>
          <p:cNvPr id="16" name="Text 11"/>
          <p:cNvSpPr txBox="1"/>
          <p:nvPr/>
        </p:nvSpPr>
        <p:spPr>
          <a:xfrm>
            <a:off x="3877056" y="2468880"/>
            <a:ext cx="1325880" cy="411480"/>
          </a:xfrm>
          <a:prstGeom prst="rect">
            <a:avLst/>
          </a:prstGeom>
          <a:noFill/>
          <a:ln/>
        </p:spPr>
        <p:txBody>
          <a:bodyPr wrap="square" lIns="0" tIns="0" rIns="0" bIns="0" rtlCol="0" anchor="ctr"/>
          <a:lstStyle/>
          <a:p>
            <a:pPr algn="ctr" indent="0" marL="0">
              <a:buNone/>
            </a:pPr>
            <a:r>
              <a:rPr lang="en-US" sz="1800" b="1" dirty="0">
                <a:solidFill>
                  <a:schemeClr val="tx1"/>
                </a:solidFill>
              </a:rPr>
              <a:t>3. Train</a:t>
            </a:r>
            <a:endParaRPr lang="en-US" sz="1800" dirty="0"/>
          </a:p>
        </p:txBody>
      </p:sp>
      <p:sp>
        <p:nvSpPr>
          <p:cNvPr id="17" name="Text 12"/>
          <p:cNvSpPr txBox="1"/>
          <p:nvPr/>
        </p:nvSpPr>
        <p:spPr>
          <a:xfrm>
            <a:off x="3895344" y="2926080"/>
            <a:ext cx="1289304" cy="1097280"/>
          </a:xfrm>
          <a:prstGeom prst="rect">
            <a:avLst/>
          </a:prstGeom>
          <a:noFill/>
          <a:ln/>
        </p:spPr>
        <p:txBody>
          <a:bodyPr wrap="square" lIns="0" tIns="0" rIns="0" bIns="0" rtlCol="0" anchor="t"/>
          <a:lstStyle/>
          <a:p>
            <a:pPr algn="ctr" indent="0" marL="0">
              <a:buNone/>
            </a:pPr>
            <a:r>
              <a:rPr lang="en-US" sz="1400" dirty="0">
                <a:solidFill>
                  <a:schemeClr val="tx2"/>
                </a:solidFill>
              </a:rPr>
              <a:t>Teach a computer yourself</a:t>
            </a:r>
            <a:endParaRPr lang="en-US" sz="1400" dirty="0"/>
          </a:p>
        </p:txBody>
      </p:sp>
      <p:sp>
        <p:nvSpPr>
          <p:cNvPr id="18" name="card-12"/>
          <p:cNvSpPr/>
          <p:nvPr/>
        </p:nvSpPr>
        <p:spPr>
          <a:xfrm>
            <a:off x="5449824" y="1234440"/>
            <a:ext cx="1508760" cy="3108960"/>
          </a:xfrm>
          <a:prstGeom prst="roundRect">
            <a:avLst>
              <a:gd name="adj" fmla="val 7273"/>
            </a:avLst>
          </a:prstGeom>
          <a:solidFill>
            <a:schemeClr val="bg2"/>
          </a:solidFill>
          <a:ln/>
        </p:spPr>
      </p:sp>
      <p:sp>
        <p:nvSpPr>
          <p:cNvPr id="19" name="circle-13"/>
          <p:cNvSpPr/>
          <p:nvPr/>
        </p:nvSpPr>
        <p:spPr>
          <a:xfrm>
            <a:off x="5797296" y="1463040"/>
            <a:ext cx="822960" cy="822960"/>
          </a:xfrm>
          <a:prstGeom prst="ellipse">
            <a:avLst/>
          </a:prstGeom>
          <a:solidFill>
            <a:schemeClr val="accent5"/>
          </a:solidFill>
          <a:ln/>
        </p:spPr>
      </p:sp>
      <p:pic>
        <p:nvPicPr>
          <p:cNvPr id="20" name="icon-14" descr="preencoded.png">    </p:cNvPr>
          <p:cNvPicPr>
            <a:picLocks noChangeAspect="1"/>
          </p:cNvPicPr>
          <p:nvPr/>
        </p:nvPicPr>
        <p:blipFill>
          <a:blip r:embed="rId4"/>
          <a:stretch>
            <a:fillRect/>
          </a:stretch>
        </p:blipFill>
        <p:spPr>
          <a:xfrm>
            <a:off x="6019495" y="1685239"/>
            <a:ext cx="378562" cy="378562"/>
          </a:xfrm>
          <a:prstGeom prst="rect">
            <a:avLst/>
          </a:prstGeom>
        </p:spPr>
      </p:pic>
      <p:sp>
        <p:nvSpPr>
          <p:cNvPr id="21" name="Text 15"/>
          <p:cNvSpPr txBox="1"/>
          <p:nvPr/>
        </p:nvSpPr>
        <p:spPr>
          <a:xfrm>
            <a:off x="5541264" y="2468880"/>
            <a:ext cx="1325880" cy="411480"/>
          </a:xfrm>
          <a:prstGeom prst="rect">
            <a:avLst/>
          </a:prstGeom>
          <a:noFill/>
          <a:ln/>
        </p:spPr>
        <p:txBody>
          <a:bodyPr wrap="square" lIns="0" tIns="0" rIns="0" bIns="0" rtlCol="0" anchor="ctr"/>
          <a:lstStyle/>
          <a:p>
            <a:pPr algn="ctr" indent="0" marL="0">
              <a:buNone/>
            </a:pPr>
            <a:r>
              <a:rPr lang="en-US" sz="1800" b="1" dirty="0">
                <a:solidFill>
                  <a:schemeClr val="tx1"/>
                </a:solidFill>
              </a:rPr>
              <a:t>4. Talk</a:t>
            </a:r>
            <a:endParaRPr lang="en-US" sz="1800" dirty="0"/>
          </a:p>
        </p:txBody>
      </p:sp>
      <p:sp>
        <p:nvSpPr>
          <p:cNvPr id="22" name="Text 16"/>
          <p:cNvSpPr txBox="1"/>
          <p:nvPr/>
        </p:nvSpPr>
        <p:spPr>
          <a:xfrm>
            <a:off x="5559552" y="2926080"/>
            <a:ext cx="1289304" cy="1097280"/>
          </a:xfrm>
          <a:prstGeom prst="rect">
            <a:avLst/>
          </a:prstGeom>
          <a:noFill/>
          <a:ln/>
        </p:spPr>
        <p:txBody>
          <a:bodyPr wrap="square" lIns="0" tIns="0" rIns="0" bIns="0" rtlCol="0" anchor="t"/>
          <a:lstStyle/>
          <a:p>
            <a:pPr algn="ctr" indent="0" marL="0">
              <a:buNone/>
            </a:pPr>
            <a:r>
              <a:rPr lang="en-US" sz="1400" dirty="0">
                <a:solidFill>
                  <a:schemeClr val="tx2"/>
                </a:solidFill>
              </a:rPr>
              <a:t>Ask AI good questions</a:t>
            </a:r>
            <a:endParaRPr lang="en-US" sz="1400" dirty="0"/>
          </a:p>
        </p:txBody>
      </p:sp>
      <p:sp>
        <p:nvSpPr>
          <p:cNvPr id="23" name="card-15"/>
          <p:cNvSpPr/>
          <p:nvPr/>
        </p:nvSpPr>
        <p:spPr>
          <a:xfrm>
            <a:off x="7114032" y="1234440"/>
            <a:ext cx="1508760" cy="3108960"/>
          </a:xfrm>
          <a:prstGeom prst="roundRect">
            <a:avLst>
              <a:gd name="adj" fmla="val 7273"/>
            </a:avLst>
          </a:prstGeom>
          <a:solidFill>
            <a:schemeClr val="bg2"/>
          </a:solidFill>
          <a:ln/>
        </p:spPr>
      </p:sp>
      <p:sp>
        <p:nvSpPr>
          <p:cNvPr id="24" name="circle-16"/>
          <p:cNvSpPr/>
          <p:nvPr/>
        </p:nvSpPr>
        <p:spPr>
          <a:xfrm>
            <a:off x="7461504" y="1463040"/>
            <a:ext cx="822960" cy="822960"/>
          </a:xfrm>
          <a:prstGeom prst="ellipse">
            <a:avLst/>
          </a:prstGeom>
          <a:solidFill>
            <a:schemeClr val="accent1"/>
          </a:solidFill>
          <a:ln/>
        </p:spPr>
      </p:sp>
      <p:pic>
        <p:nvPicPr>
          <p:cNvPr id="25" name="icon-17" descr="preencoded.png">    </p:cNvPr>
          <p:cNvPicPr>
            <a:picLocks noChangeAspect="1"/>
          </p:cNvPicPr>
          <p:nvPr/>
        </p:nvPicPr>
        <p:blipFill>
          <a:blip r:embed="rId5"/>
          <a:stretch>
            <a:fillRect/>
          </a:stretch>
        </p:blipFill>
        <p:spPr>
          <a:xfrm>
            <a:off x="7683703" y="1685239"/>
            <a:ext cx="378562" cy="378562"/>
          </a:xfrm>
          <a:prstGeom prst="rect">
            <a:avLst/>
          </a:prstGeom>
        </p:spPr>
      </p:pic>
      <p:sp>
        <p:nvSpPr>
          <p:cNvPr id="26" name="Text 19"/>
          <p:cNvSpPr txBox="1"/>
          <p:nvPr/>
        </p:nvSpPr>
        <p:spPr>
          <a:xfrm>
            <a:off x="7205472" y="2468880"/>
            <a:ext cx="1325880" cy="411480"/>
          </a:xfrm>
          <a:prstGeom prst="rect">
            <a:avLst/>
          </a:prstGeom>
          <a:noFill/>
          <a:ln/>
        </p:spPr>
        <p:txBody>
          <a:bodyPr wrap="square" lIns="0" tIns="0" rIns="0" bIns="0" rtlCol="0" anchor="ctr"/>
          <a:lstStyle/>
          <a:p>
            <a:pPr algn="ctr" indent="0" marL="0">
              <a:buNone/>
            </a:pPr>
            <a:r>
              <a:rPr lang="en-US" sz="1800" b="1" dirty="0">
                <a:solidFill>
                  <a:schemeClr val="tx1"/>
                </a:solidFill>
              </a:rPr>
              <a:t>5. Stay safe</a:t>
            </a:r>
            <a:endParaRPr lang="en-US" sz="1800" dirty="0"/>
          </a:p>
        </p:txBody>
      </p:sp>
      <p:sp>
        <p:nvSpPr>
          <p:cNvPr id="27" name="Text 20"/>
          <p:cNvSpPr txBox="1"/>
          <p:nvPr/>
        </p:nvSpPr>
        <p:spPr>
          <a:xfrm>
            <a:off x="7223760" y="2926080"/>
            <a:ext cx="1289304" cy="1097280"/>
          </a:xfrm>
          <a:prstGeom prst="rect">
            <a:avLst/>
          </a:prstGeom>
          <a:noFill/>
          <a:ln/>
        </p:spPr>
        <p:txBody>
          <a:bodyPr wrap="square" lIns="0" tIns="0" rIns="0" bIns="0" rtlCol="0" anchor="t"/>
          <a:lstStyle/>
          <a:p>
            <a:pPr algn="ctr" indent="0" marL="0">
              <a:buNone/>
            </a:pPr>
            <a:r>
              <a:rPr lang="en-US" sz="1400" dirty="0">
                <a:solidFill>
                  <a:schemeClr val="tx2"/>
                </a:solidFill>
              </a:rPr>
              <a:t>Golden rules of AI</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Game: AI or not AI?</a:t>
            </a:r>
            <a:endParaRPr lang="en-US" sz="3200" dirty="0"/>
          </a:p>
        </p:txBody>
      </p:sp>
      <p:sp>
        <p:nvSpPr>
          <p:cNvPr id="3" name="card-18"/>
          <p:cNvSpPr/>
          <p:nvPr/>
        </p:nvSpPr>
        <p:spPr>
          <a:xfrm>
            <a:off x="457200" y="1188720"/>
            <a:ext cx="2606040" cy="1508760"/>
          </a:xfrm>
          <a:prstGeom prst="roundRect">
            <a:avLst>
              <a:gd name="adj" fmla="val 7273"/>
            </a:avLst>
          </a:prstGeom>
          <a:solidFill>
            <a:schemeClr val="bg1"/>
          </a:solidFill>
          <a:ln/>
        </p:spPr>
      </p:sp>
      <p:pic>
        <p:nvPicPr>
          <p:cNvPr id="4" name="icon-19" descr="preencoded.png">    </p:cNvPr>
          <p:cNvPicPr>
            <a:picLocks noChangeAspect="1"/>
          </p:cNvPicPr>
          <p:nvPr/>
        </p:nvPicPr>
        <p:blipFill>
          <a:blip r:embed="rId1"/>
          <a:stretch>
            <a:fillRect/>
          </a:stretch>
        </p:blipFill>
        <p:spPr>
          <a:xfrm>
            <a:off x="640080" y="1371600"/>
            <a:ext cx="502920" cy="502920"/>
          </a:xfrm>
          <a:prstGeom prst="rect">
            <a:avLst/>
          </a:prstGeom>
        </p:spPr>
      </p:pic>
      <p:sp>
        <p:nvSpPr>
          <p:cNvPr id="5" name="Text 2"/>
          <p:cNvSpPr txBox="1"/>
          <p:nvPr/>
        </p:nvSpPr>
        <p:spPr>
          <a:xfrm>
            <a:off x="594360" y="2011680"/>
            <a:ext cx="2331720" cy="594360"/>
          </a:xfrm>
          <a:prstGeom prst="rect">
            <a:avLst/>
          </a:prstGeom>
          <a:noFill/>
          <a:ln/>
        </p:spPr>
        <p:txBody>
          <a:bodyPr wrap="square" lIns="0" tIns="0" rIns="0" bIns="0" rtlCol="0" anchor="t"/>
          <a:lstStyle/>
          <a:p>
            <a:pPr indent="0" marL="0">
              <a:buNone/>
            </a:pPr>
            <a:r>
              <a:rPr lang="en-US" sz="1500" b="1" dirty="0">
                <a:solidFill>
                  <a:schemeClr val="tx1"/>
                </a:solidFill>
              </a:rPr>
              <a:t>YouTube suggesting your next video</a:t>
            </a:r>
            <a:endParaRPr lang="en-US" sz="1500" dirty="0"/>
          </a:p>
        </p:txBody>
      </p:sp>
      <p:sp>
        <p:nvSpPr>
          <p:cNvPr id="6" name="card-20"/>
          <p:cNvSpPr/>
          <p:nvPr/>
        </p:nvSpPr>
        <p:spPr>
          <a:xfrm>
            <a:off x="3246120" y="1188720"/>
            <a:ext cx="2606040" cy="1508760"/>
          </a:xfrm>
          <a:prstGeom prst="roundRect">
            <a:avLst>
              <a:gd name="adj" fmla="val 7273"/>
            </a:avLst>
          </a:prstGeom>
          <a:solidFill>
            <a:schemeClr val="bg1"/>
          </a:solidFill>
          <a:ln/>
        </p:spPr>
      </p:sp>
      <p:pic>
        <p:nvPicPr>
          <p:cNvPr id="7" name="icon-21" descr="preencoded.png">    </p:cNvPr>
          <p:cNvPicPr>
            <a:picLocks noChangeAspect="1"/>
          </p:cNvPicPr>
          <p:nvPr/>
        </p:nvPicPr>
        <p:blipFill>
          <a:blip r:embed="rId2"/>
          <a:stretch>
            <a:fillRect/>
          </a:stretch>
        </p:blipFill>
        <p:spPr>
          <a:xfrm>
            <a:off x="3429000" y="1371600"/>
            <a:ext cx="502920" cy="502920"/>
          </a:xfrm>
          <a:prstGeom prst="rect">
            <a:avLst/>
          </a:prstGeom>
        </p:spPr>
      </p:pic>
      <p:sp>
        <p:nvSpPr>
          <p:cNvPr id="8" name="Text 4"/>
          <p:cNvSpPr txBox="1"/>
          <p:nvPr/>
        </p:nvSpPr>
        <p:spPr>
          <a:xfrm>
            <a:off x="3383280" y="2011680"/>
            <a:ext cx="2331720" cy="594360"/>
          </a:xfrm>
          <a:prstGeom prst="rect">
            <a:avLst/>
          </a:prstGeom>
          <a:noFill/>
          <a:ln/>
        </p:spPr>
        <p:txBody>
          <a:bodyPr wrap="square" lIns="0" tIns="0" rIns="0" bIns="0" rtlCol="0" anchor="t"/>
          <a:lstStyle/>
          <a:p>
            <a:pPr indent="0" marL="0">
              <a:buNone/>
            </a:pPr>
            <a:r>
              <a:rPr lang="en-US" sz="1500" b="1" dirty="0">
                <a:solidFill>
                  <a:schemeClr val="tx1"/>
                </a:solidFill>
              </a:rPr>
              <a:t>A calculator doing 25 × 4</a:t>
            </a:r>
            <a:endParaRPr lang="en-US" sz="1500" dirty="0"/>
          </a:p>
        </p:txBody>
      </p:sp>
      <p:sp>
        <p:nvSpPr>
          <p:cNvPr id="9" name="card-22"/>
          <p:cNvSpPr/>
          <p:nvPr/>
        </p:nvSpPr>
        <p:spPr>
          <a:xfrm>
            <a:off x="6035040" y="1188720"/>
            <a:ext cx="2606040" cy="1508760"/>
          </a:xfrm>
          <a:prstGeom prst="roundRect">
            <a:avLst>
              <a:gd name="adj" fmla="val 7273"/>
            </a:avLst>
          </a:prstGeom>
          <a:solidFill>
            <a:schemeClr val="bg1"/>
          </a:solidFill>
          <a:ln/>
        </p:spPr>
      </p:sp>
      <p:pic>
        <p:nvPicPr>
          <p:cNvPr id="10" name="icon-23" descr="preencoded.png">    </p:cNvPr>
          <p:cNvPicPr>
            <a:picLocks noChangeAspect="1"/>
          </p:cNvPicPr>
          <p:nvPr/>
        </p:nvPicPr>
        <p:blipFill>
          <a:blip r:embed="rId3"/>
          <a:stretch>
            <a:fillRect/>
          </a:stretch>
        </p:blipFill>
        <p:spPr>
          <a:xfrm>
            <a:off x="6217920" y="1371600"/>
            <a:ext cx="502920" cy="502920"/>
          </a:xfrm>
          <a:prstGeom prst="rect">
            <a:avLst/>
          </a:prstGeom>
        </p:spPr>
      </p:pic>
      <p:sp>
        <p:nvSpPr>
          <p:cNvPr id="11" name="Text 6"/>
          <p:cNvSpPr txBox="1"/>
          <p:nvPr/>
        </p:nvSpPr>
        <p:spPr>
          <a:xfrm>
            <a:off x="6172200" y="2011680"/>
            <a:ext cx="2331720" cy="594360"/>
          </a:xfrm>
          <a:prstGeom prst="rect">
            <a:avLst/>
          </a:prstGeom>
          <a:noFill/>
          <a:ln/>
        </p:spPr>
        <p:txBody>
          <a:bodyPr wrap="square" lIns="0" tIns="0" rIns="0" bIns="0" rtlCol="0" anchor="t"/>
          <a:lstStyle/>
          <a:p>
            <a:pPr indent="0" marL="0">
              <a:buNone/>
            </a:pPr>
            <a:r>
              <a:rPr lang="en-US" sz="1500" b="1" dirty="0">
                <a:solidFill>
                  <a:schemeClr val="tx1"/>
                </a:solidFill>
              </a:rPr>
              <a:t>Google Maps finding a faster road</a:t>
            </a:r>
            <a:endParaRPr lang="en-US" sz="1500" dirty="0"/>
          </a:p>
        </p:txBody>
      </p:sp>
      <p:sp>
        <p:nvSpPr>
          <p:cNvPr id="12" name="card-24"/>
          <p:cNvSpPr/>
          <p:nvPr/>
        </p:nvSpPr>
        <p:spPr>
          <a:xfrm>
            <a:off x="457200" y="2880360"/>
            <a:ext cx="2606040" cy="1508760"/>
          </a:xfrm>
          <a:prstGeom prst="roundRect">
            <a:avLst>
              <a:gd name="adj" fmla="val 7273"/>
            </a:avLst>
          </a:prstGeom>
          <a:solidFill>
            <a:schemeClr val="bg1"/>
          </a:solidFill>
          <a:ln/>
        </p:spPr>
      </p:sp>
      <p:pic>
        <p:nvPicPr>
          <p:cNvPr id="13" name="icon-25" descr="preencoded.png">    </p:cNvPr>
          <p:cNvPicPr>
            <a:picLocks noChangeAspect="1"/>
          </p:cNvPicPr>
          <p:nvPr/>
        </p:nvPicPr>
        <p:blipFill>
          <a:blip r:embed="rId4"/>
          <a:stretch>
            <a:fillRect/>
          </a:stretch>
        </p:blipFill>
        <p:spPr>
          <a:xfrm>
            <a:off x="640080" y="3063240"/>
            <a:ext cx="502920" cy="502920"/>
          </a:xfrm>
          <a:prstGeom prst="rect">
            <a:avLst/>
          </a:prstGeom>
        </p:spPr>
      </p:pic>
      <p:sp>
        <p:nvSpPr>
          <p:cNvPr id="14" name="Text 8"/>
          <p:cNvSpPr txBox="1"/>
          <p:nvPr/>
        </p:nvSpPr>
        <p:spPr>
          <a:xfrm>
            <a:off x="594360" y="3703320"/>
            <a:ext cx="2331720" cy="594360"/>
          </a:xfrm>
          <a:prstGeom prst="rect">
            <a:avLst/>
          </a:prstGeom>
          <a:noFill/>
          <a:ln/>
        </p:spPr>
        <p:txBody>
          <a:bodyPr wrap="square" lIns="0" tIns="0" rIns="0" bIns="0" rtlCol="0" anchor="t"/>
          <a:lstStyle/>
          <a:p>
            <a:pPr indent="0" marL="0">
              <a:buNone/>
            </a:pPr>
            <a:r>
              <a:rPr lang="en-US" sz="1500" b="1" dirty="0">
                <a:solidFill>
                  <a:schemeClr val="tx1"/>
                </a:solidFill>
              </a:rPr>
              <a:t>A light switch</a:t>
            </a:r>
            <a:endParaRPr lang="en-US" sz="1500" dirty="0"/>
          </a:p>
        </p:txBody>
      </p:sp>
      <p:sp>
        <p:nvSpPr>
          <p:cNvPr id="15" name="card-26"/>
          <p:cNvSpPr/>
          <p:nvPr/>
        </p:nvSpPr>
        <p:spPr>
          <a:xfrm>
            <a:off x="3246120" y="2880360"/>
            <a:ext cx="2606040" cy="1508760"/>
          </a:xfrm>
          <a:prstGeom prst="roundRect">
            <a:avLst>
              <a:gd name="adj" fmla="val 7273"/>
            </a:avLst>
          </a:prstGeom>
          <a:solidFill>
            <a:schemeClr val="bg1"/>
          </a:solidFill>
          <a:ln/>
        </p:spPr>
      </p:sp>
      <p:pic>
        <p:nvPicPr>
          <p:cNvPr id="16" name="icon-27" descr="preencoded.png">    </p:cNvPr>
          <p:cNvPicPr>
            <a:picLocks noChangeAspect="1"/>
          </p:cNvPicPr>
          <p:nvPr/>
        </p:nvPicPr>
        <p:blipFill>
          <a:blip r:embed="rId5"/>
          <a:stretch>
            <a:fillRect/>
          </a:stretch>
        </p:blipFill>
        <p:spPr>
          <a:xfrm>
            <a:off x="3429000" y="3063240"/>
            <a:ext cx="502920" cy="502920"/>
          </a:xfrm>
          <a:prstGeom prst="rect">
            <a:avLst/>
          </a:prstGeom>
        </p:spPr>
      </p:pic>
      <p:sp>
        <p:nvSpPr>
          <p:cNvPr id="17" name="Text 10"/>
          <p:cNvSpPr txBox="1"/>
          <p:nvPr/>
        </p:nvSpPr>
        <p:spPr>
          <a:xfrm>
            <a:off x="3383280" y="3703320"/>
            <a:ext cx="2331720" cy="594360"/>
          </a:xfrm>
          <a:prstGeom prst="rect">
            <a:avLst/>
          </a:prstGeom>
          <a:noFill/>
          <a:ln/>
        </p:spPr>
        <p:txBody>
          <a:bodyPr wrap="square" lIns="0" tIns="0" rIns="0" bIns="0" rtlCol="0" anchor="t"/>
          <a:lstStyle/>
          <a:p>
            <a:pPr indent="0" marL="0">
              <a:buNone/>
            </a:pPr>
            <a:r>
              <a:rPr lang="en-US" sz="1500" b="1" dirty="0">
                <a:solidFill>
                  <a:schemeClr val="tx1"/>
                </a:solidFill>
              </a:rPr>
              <a:t>Phone unlocking with your face</a:t>
            </a:r>
            <a:endParaRPr lang="en-US" sz="1500" dirty="0"/>
          </a:p>
        </p:txBody>
      </p:sp>
      <p:sp>
        <p:nvSpPr>
          <p:cNvPr id="18" name="card-28"/>
          <p:cNvSpPr/>
          <p:nvPr/>
        </p:nvSpPr>
        <p:spPr>
          <a:xfrm>
            <a:off x="6035040" y="2880360"/>
            <a:ext cx="2606040" cy="1508760"/>
          </a:xfrm>
          <a:prstGeom prst="roundRect">
            <a:avLst>
              <a:gd name="adj" fmla="val 7273"/>
            </a:avLst>
          </a:prstGeom>
          <a:solidFill>
            <a:schemeClr val="bg1"/>
          </a:solidFill>
          <a:ln/>
        </p:spPr>
      </p:sp>
      <p:pic>
        <p:nvPicPr>
          <p:cNvPr id="19" name="icon-29" descr="preencoded.png">    </p:cNvPr>
          <p:cNvPicPr>
            <a:picLocks noChangeAspect="1"/>
          </p:cNvPicPr>
          <p:nvPr/>
        </p:nvPicPr>
        <p:blipFill>
          <a:blip r:embed="rId6"/>
          <a:stretch>
            <a:fillRect/>
          </a:stretch>
        </p:blipFill>
        <p:spPr>
          <a:xfrm>
            <a:off x="6217920" y="3063240"/>
            <a:ext cx="502920" cy="502920"/>
          </a:xfrm>
          <a:prstGeom prst="rect">
            <a:avLst/>
          </a:prstGeom>
        </p:spPr>
      </p:pic>
      <p:sp>
        <p:nvSpPr>
          <p:cNvPr id="20" name="Text 12"/>
          <p:cNvSpPr txBox="1"/>
          <p:nvPr/>
        </p:nvSpPr>
        <p:spPr>
          <a:xfrm>
            <a:off x="6172200" y="3703320"/>
            <a:ext cx="2331720" cy="594360"/>
          </a:xfrm>
          <a:prstGeom prst="rect">
            <a:avLst/>
          </a:prstGeom>
          <a:noFill/>
          <a:ln/>
        </p:spPr>
        <p:txBody>
          <a:bodyPr wrap="square" lIns="0" tIns="0" rIns="0" bIns="0" rtlCol="0" anchor="t"/>
          <a:lstStyle/>
          <a:p>
            <a:pPr indent="0" marL="0">
              <a:buNone/>
            </a:pPr>
            <a:r>
              <a:rPr lang="en-US" sz="1500" b="1" dirty="0">
                <a:solidFill>
                  <a:schemeClr val="tx1"/>
                </a:solidFill>
              </a:rPr>
              <a:t>An alarm clock ringing at 6 am</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So what is AI?</a:t>
            </a:r>
            <a:endParaRPr lang="en-US" sz="3200" dirty="0"/>
          </a:p>
        </p:txBody>
      </p:sp>
      <p:sp>
        <p:nvSpPr>
          <p:cNvPr id="3" name="card-30"/>
          <p:cNvSpPr/>
          <p:nvPr/>
        </p:nvSpPr>
        <p:spPr>
          <a:xfrm>
            <a:off x="457200" y="1188720"/>
            <a:ext cx="8229600" cy="1463040"/>
          </a:xfrm>
          <a:prstGeom prst="roundRect">
            <a:avLst>
              <a:gd name="adj" fmla="val 7500"/>
            </a:avLst>
          </a:prstGeom>
          <a:solidFill>
            <a:schemeClr val="tx1"/>
          </a:solidFill>
          <a:ln/>
        </p:spPr>
      </p:sp>
      <p:sp>
        <p:nvSpPr>
          <p:cNvPr id="4" name="Text 2"/>
          <p:cNvSpPr txBox="1"/>
          <p:nvPr/>
        </p:nvSpPr>
        <p:spPr>
          <a:xfrm>
            <a:off x="731520" y="1280160"/>
            <a:ext cx="7680960" cy="1280160"/>
          </a:xfrm>
          <a:prstGeom prst="rect">
            <a:avLst/>
          </a:prstGeom>
          <a:noFill/>
          <a:ln/>
        </p:spPr>
        <p:txBody>
          <a:bodyPr wrap="square" lIns="0" tIns="0" rIns="0" bIns="0" rtlCol="0" anchor="ctr"/>
          <a:lstStyle/>
          <a:p>
            <a:pPr indent="0" marL="0">
              <a:buNone/>
            </a:pPr>
            <a:r>
              <a:rPr lang="en-US" sz="2600" dirty="0">
                <a:solidFill>
                  <a:schemeClr val="bg1"/>
                </a:solidFill>
              </a:rPr>
              <a:t>AI is a computer program that </a:t>
            </a:r>
            <a:pPr indent="0" marL="0">
              <a:buNone/>
            </a:pPr>
            <a:r>
              <a:rPr lang="en-US" sz="2600" b="1" dirty="0">
                <a:solidFill>
                  <a:schemeClr val="accent2"/>
                </a:solidFill>
              </a:rPr>
              <a:t>learns from examples</a:t>
            </a:r>
            <a:pPr indent="0" marL="0">
              <a:buNone/>
            </a:pPr>
            <a:r>
              <a:rPr lang="en-US" sz="2600" dirty="0">
                <a:solidFill>
                  <a:schemeClr val="bg1"/>
                </a:solidFill>
              </a:rPr>
              <a:t> and then </a:t>
            </a:r>
            <a:pPr indent="0" marL="0">
              <a:buNone/>
            </a:pPr>
            <a:r>
              <a:rPr lang="en-US" sz="2600" b="1" dirty="0">
                <a:solidFill>
                  <a:schemeClr val="accent2"/>
                </a:solidFill>
              </a:rPr>
              <a:t>makes a smart guess.</a:t>
            </a:r>
            <a:endParaRPr lang="en-US" sz="2600" dirty="0"/>
          </a:p>
        </p:txBody>
      </p:sp>
      <p:sp>
        <p:nvSpPr>
          <p:cNvPr id="5" name="circle-31"/>
          <p:cNvSpPr/>
          <p:nvPr/>
        </p:nvSpPr>
        <p:spPr>
          <a:xfrm>
            <a:off x="457200" y="2971800"/>
            <a:ext cx="777240" cy="777240"/>
          </a:xfrm>
          <a:prstGeom prst="ellipse">
            <a:avLst/>
          </a:prstGeom>
          <a:solidFill>
            <a:schemeClr val="accent3"/>
          </a:solidFill>
          <a:ln/>
        </p:spPr>
      </p:sp>
      <p:pic>
        <p:nvPicPr>
          <p:cNvPr id="6" name="icon-32" descr="preencoded.png">    </p:cNvPr>
          <p:cNvPicPr>
            <a:picLocks noChangeAspect="1"/>
          </p:cNvPicPr>
          <p:nvPr/>
        </p:nvPicPr>
        <p:blipFill>
          <a:blip r:embed="rId1"/>
          <a:stretch>
            <a:fillRect/>
          </a:stretch>
        </p:blipFill>
        <p:spPr>
          <a:xfrm>
            <a:off x="667055" y="3181655"/>
            <a:ext cx="357530" cy="357530"/>
          </a:xfrm>
          <a:prstGeom prst="rect">
            <a:avLst/>
          </a:prstGeom>
        </p:spPr>
      </p:pic>
      <p:sp>
        <p:nvSpPr>
          <p:cNvPr id="7" name="Text 4"/>
          <p:cNvSpPr txBox="1"/>
          <p:nvPr/>
        </p:nvSpPr>
        <p:spPr>
          <a:xfrm>
            <a:off x="1371600" y="2971800"/>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Sees lots of examples</a:t>
            </a:r>
            <a:endParaRPr lang="en-US" sz="1600" dirty="0"/>
          </a:p>
        </p:txBody>
      </p:sp>
      <p:sp>
        <p:nvSpPr>
          <p:cNvPr id="8" name="Text 5"/>
          <p:cNvSpPr txBox="1"/>
          <p:nvPr/>
        </p:nvSpPr>
        <p:spPr>
          <a:xfrm>
            <a:off x="1371600" y="3383280"/>
            <a:ext cx="1783080" cy="457200"/>
          </a:xfrm>
          <a:prstGeom prst="rect">
            <a:avLst/>
          </a:prstGeom>
          <a:noFill/>
          <a:ln/>
        </p:spPr>
        <p:txBody>
          <a:bodyPr wrap="square" lIns="0" tIns="0" rIns="0" bIns="0" rtlCol="0" anchor="ctr"/>
          <a:lstStyle/>
          <a:p>
            <a:pPr indent="0" marL="0">
              <a:buNone/>
            </a:pPr>
            <a:r>
              <a:rPr lang="en-US" sz="1400" dirty="0">
                <a:solidFill>
                  <a:schemeClr val="tx2"/>
                </a:solidFill>
              </a:rPr>
              <a:t>1,000s of cat photos</a:t>
            </a:r>
            <a:endParaRPr lang="en-US" sz="1400" dirty="0"/>
          </a:p>
        </p:txBody>
      </p:sp>
      <p:sp>
        <p:nvSpPr>
          <p:cNvPr id="9" name="Text 6"/>
          <p:cNvSpPr txBox="1"/>
          <p:nvPr/>
        </p:nvSpPr>
        <p:spPr>
          <a:xfrm>
            <a:off x="3017520" y="3017520"/>
            <a:ext cx="320040" cy="548640"/>
          </a:xfrm>
          <a:prstGeom prst="rect">
            <a:avLst/>
          </a:prstGeom>
          <a:noFill/>
          <a:ln/>
        </p:spPr>
        <p:txBody>
          <a:bodyPr wrap="square" lIns="0" tIns="0" rIns="0" bIns="0" rtlCol="0" anchor="ctr"/>
          <a:lstStyle/>
          <a:p>
            <a:pPr indent="0" marL="0">
              <a:buNone/>
            </a:pPr>
            <a:r>
              <a:rPr lang="en-US" sz="2600" b="1" dirty="0">
                <a:solidFill>
                  <a:schemeClr val="accent1"/>
                </a:solidFill>
              </a:rPr>
              <a:t>→</a:t>
            </a:r>
            <a:endParaRPr lang="en-US" sz="2600" dirty="0"/>
          </a:p>
        </p:txBody>
      </p:sp>
      <p:sp>
        <p:nvSpPr>
          <p:cNvPr id="10" name="circle-33"/>
          <p:cNvSpPr/>
          <p:nvPr/>
        </p:nvSpPr>
        <p:spPr>
          <a:xfrm>
            <a:off x="3291840" y="2971800"/>
            <a:ext cx="777240" cy="777240"/>
          </a:xfrm>
          <a:prstGeom prst="ellipse">
            <a:avLst/>
          </a:prstGeom>
          <a:solidFill>
            <a:schemeClr val="accent4"/>
          </a:solidFill>
          <a:ln/>
        </p:spPr>
      </p:sp>
      <p:pic>
        <p:nvPicPr>
          <p:cNvPr id="11" name="icon-34" descr="preencoded.png">    </p:cNvPr>
          <p:cNvPicPr>
            <a:picLocks noChangeAspect="1"/>
          </p:cNvPicPr>
          <p:nvPr/>
        </p:nvPicPr>
        <p:blipFill>
          <a:blip r:embed="rId2"/>
          <a:stretch>
            <a:fillRect/>
          </a:stretch>
        </p:blipFill>
        <p:spPr>
          <a:xfrm>
            <a:off x="3501695" y="3181655"/>
            <a:ext cx="357530" cy="357530"/>
          </a:xfrm>
          <a:prstGeom prst="rect">
            <a:avLst/>
          </a:prstGeom>
        </p:spPr>
      </p:pic>
      <p:sp>
        <p:nvSpPr>
          <p:cNvPr id="12" name="Text 8"/>
          <p:cNvSpPr txBox="1"/>
          <p:nvPr/>
        </p:nvSpPr>
        <p:spPr>
          <a:xfrm>
            <a:off x="4206240" y="2971800"/>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Finds the pattern</a:t>
            </a:r>
            <a:endParaRPr lang="en-US" sz="1600" dirty="0"/>
          </a:p>
        </p:txBody>
      </p:sp>
      <p:sp>
        <p:nvSpPr>
          <p:cNvPr id="13" name="Text 9"/>
          <p:cNvSpPr txBox="1"/>
          <p:nvPr/>
        </p:nvSpPr>
        <p:spPr>
          <a:xfrm>
            <a:off x="4206240" y="3383280"/>
            <a:ext cx="1783080" cy="457200"/>
          </a:xfrm>
          <a:prstGeom prst="rect">
            <a:avLst/>
          </a:prstGeom>
          <a:noFill/>
          <a:ln/>
        </p:spPr>
        <p:txBody>
          <a:bodyPr wrap="square" lIns="0" tIns="0" rIns="0" bIns="0" rtlCol="0" anchor="ctr"/>
          <a:lstStyle/>
          <a:p>
            <a:pPr indent="0" marL="0">
              <a:buNone/>
            </a:pPr>
            <a:r>
              <a:rPr lang="en-US" sz="1400" dirty="0">
                <a:solidFill>
                  <a:schemeClr val="tx2"/>
                </a:solidFill>
              </a:rPr>
              <a:t>ears, whiskers, tail</a:t>
            </a:r>
            <a:endParaRPr lang="en-US" sz="1400" dirty="0"/>
          </a:p>
        </p:txBody>
      </p:sp>
      <p:sp>
        <p:nvSpPr>
          <p:cNvPr id="14" name="Text 10"/>
          <p:cNvSpPr txBox="1"/>
          <p:nvPr/>
        </p:nvSpPr>
        <p:spPr>
          <a:xfrm>
            <a:off x="5852160" y="3017520"/>
            <a:ext cx="320040" cy="548640"/>
          </a:xfrm>
          <a:prstGeom prst="rect">
            <a:avLst/>
          </a:prstGeom>
          <a:noFill/>
          <a:ln/>
        </p:spPr>
        <p:txBody>
          <a:bodyPr wrap="square" lIns="0" tIns="0" rIns="0" bIns="0" rtlCol="0" anchor="ctr"/>
          <a:lstStyle/>
          <a:p>
            <a:pPr indent="0" marL="0">
              <a:buNone/>
            </a:pPr>
            <a:r>
              <a:rPr lang="en-US" sz="2600" b="1" dirty="0">
                <a:solidFill>
                  <a:schemeClr val="accent1"/>
                </a:solidFill>
              </a:rPr>
              <a:t>→</a:t>
            </a:r>
            <a:endParaRPr lang="en-US" sz="2600" dirty="0"/>
          </a:p>
        </p:txBody>
      </p:sp>
      <p:sp>
        <p:nvSpPr>
          <p:cNvPr id="15" name="circle-35"/>
          <p:cNvSpPr/>
          <p:nvPr/>
        </p:nvSpPr>
        <p:spPr>
          <a:xfrm>
            <a:off x="6126480" y="2971800"/>
            <a:ext cx="777240" cy="777240"/>
          </a:xfrm>
          <a:prstGeom prst="ellipse">
            <a:avLst/>
          </a:prstGeom>
          <a:solidFill>
            <a:schemeClr val="accent1"/>
          </a:solidFill>
          <a:ln/>
        </p:spPr>
      </p:sp>
      <p:pic>
        <p:nvPicPr>
          <p:cNvPr id="16" name="icon-36" descr="preencoded.png">    </p:cNvPr>
          <p:cNvPicPr>
            <a:picLocks noChangeAspect="1"/>
          </p:cNvPicPr>
          <p:nvPr/>
        </p:nvPicPr>
        <p:blipFill>
          <a:blip r:embed="rId3"/>
          <a:stretch>
            <a:fillRect/>
          </a:stretch>
        </p:blipFill>
        <p:spPr>
          <a:xfrm>
            <a:off x="6336335" y="3181655"/>
            <a:ext cx="357530" cy="357530"/>
          </a:xfrm>
          <a:prstGeom prst="rect">
            <a:avLst/>
          </a:prstGeom>
        </p:spPr>
      </p:pic>
      <p:sp>
        <p:nvSpPr>
          <p:cNvPr id="17" name="Text 12"/>
          <p:cNvSpPr txBox="1"/>
          <p:nvPr/>
        </p:nvSpPr>
        <p:spPr>
          <a:xfrm>
            <a:off x="7040880" y="2971800"/>
            <a:ext cx="1783080" cy="411480"/>
          </a:xfrm>
          <a:prstGeom prst="rect">
            <a:avLst/>
          </a:prstGeom>
          <a:noFill/>
          <a:ln/>
        </p:spPr>
        <p:txBody>
          <a:bodyPr wrap="square" lIns="0" tIns="0" rIns="0" bIns="0" rtlCol="0" anchor="ctr"/>
          <a:lstStyle/>
          <a:p>
            <a:pPr indent="0" marL="0">
              <a:buNone/>
            </a:pPr>
            <a:r>
              <a:rPr lang="en-US" sz="1600" b="1" dirty="0">
                <a:solidFill>
                  <a:schemeClr val="tx1"/>
                </a:solidFill>
              </a:rPr>
              <a:t>Makes a guess</a:t>
            </a:r>
            <a:endParaRPr lang="en-US" sz="1600" dirty="0"/>
          </a:p>
        </p:txBody>
      </p:sp>
      <p:sp>
        <p:nvSpPr>
          <p:cNvPr id="18" name="Text 13"/>
          <p:cNvSpPr txBox="1"/>
          <p:nvPr/>
        </p:nvSpPr>
        <p:spPr>
          <a:xfrm>
            <a:off x="7040880" y="3383280"/>
            <a:ext cx="1783080" cy="457200"/>
          </a:xfrm>
          <a:prstGeom prst="rect">
            <a:avLst/>
          </a:prstGeom>
          <a:noFill/>
          <a:ln/>
        </p:spPr>
        <p:txBody>
          <a:bodyPr wrap="square" lIns="0" tIns="0" rIns="0" bIns="0" rtlCol="0" anchor="ctr"/>
          <a:lstStyle/>
          <a:p>
            <a:pPr indent="0" marL="0">
              <a:buNone/>
            </a:pPr>
            <a:r>
              <a:rPr lang="en-US" sz="1400" dirty="0">
                <a:solidFill>
                  <a:schemeClr val="tx2"/>
                </a:solidFill>
              </a:rPr>
              <a:t>"This looks like a cat!"</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Activity 1: Can AI guess your drawing?</a:t>
            </a:r>
            <a:endParaRPr lang="en-US" sz="3200" dirty="0"/>
          </a:p>
        </p:txBody>
      </p:sp>
      <p:sp>
        <p:nvSpPr>
          <p:cNvPr id="3" name="tag-37"/>
          <p:cNvSpPr/>
          <p:nvPr/>
        </p:nvSpPr>
        <p:spPr>
          <a:xfrm>
            <a:off x="457200" y="1097280"/>
            <a:ext cx="2011680" cy="329184"/>
          </a:xfrm>
          <a:prstGeom prst="roundRect">
            <a:avLst>
              <a:gd name="adj" fmla="val 50000"/>
            </a:avLst>
          </a:prstGeom>
          <a:solidFill>
            <a:schemeClr val="accent1"/>
          </a:solidFill>
          <a:ln/>
        </p:spPr>
      </p:sp>
      <p:sp>
        <p:nvSpPr>
          <p:cNvPr id="4" name="tagtext-38"/>
          <p:cNvSpPr txBox="1"/>
          <p:nvPr/>
        </p:nvSpPr>
        <p:spPr>
          <a:xfrm>
            <a:off x="457200" y="1097280"/>
            <a:ext cx="2011680" cy="329184"/>
          </a:xfrm>
          <a:prstGeom prst="rect">
            <a:avLst/>
          </a:prstGeom>
          <a:noFill/>
          <a:ln/>
        </p:spPr>
        <p:txBody>
          <a:bodyPr wrap="square" lIns="0" tIns="0" rIns="0" bIns="0" rtlCol="0" anchor="ctr"/>
          <a:lstStyle/>
          <a:p>
            <a:pPr algn="ctr" indent="0" marL="0">
              <a:buNone/>
            </a:pPr>
            <a:r>
              <a:rPr lang="en-US" sz="1200" b="1" dirty="0">
                <a:solidFill>
                  <a:schemeClr val="bg1"/>
                </a:solidFill>
              </a:rPr>
              <a:t>15 minutes · pairs</a:t>
            </a:r>
            <a:endParaRPr lang="en-US" sz="1200" dirty="0"/>
          </a:p>
        </p:txBody>
      </p:sp>
      <p:sp>
        <p:nvSpPr>
          <p:cNvPr id="5" name="num-39"/>
          <p:cNvSpPr/>
          <p:nvPr/>
        </p:nvSpPr>
        <p:spPr>
          <a:xfrm>
            <a:off x="457200" y="1600200"/>
            <a:ext cx="411480" cy="411480"/>
          </a:xfrm>
          <a:prstGeom prst="ellipse">
            <a:avLst/>
          </a:prstGeom>
          <a:solidFill>
            <a:schemeClr val="accent1"/>
          </a:solidFill>
          <a:ln/>
        </p:spPr>
      </p:sp>
      <p:sp>
        <p:nvSpPr>
          <p:cNvPr id="6" name="Text 4"/>
          <p:cNvSpPr txBox="1"/>
          <p:nvPr/>
        </p:nvSpPr>
        <p:spPr>
          <a:xfrm>
            <a:off x="457200" y="1600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005840" y="1600200"/>
            <a:ext cx="4389120" cy="411480"/>
          </a:xfrm>
          <a:prstGeom prst="rect">
            <a:avLst/>
          </a:prstGeom>
          <a:noFill/>
          <a:ln/>
        </p:spPr>
        <p:txBody>
          <a:bodyPr wrap="square" lIns="0" tIns="0" rIns="0" bIns="0" rtlCol="0" anchor="ctr"/>
          <a:lstStyle/>
          <a:p>
            <a:pPr indent="0" marL="0">
              <a:buNone/>
            </a:pPr>
            <a:r>
              <a:rPr lang="en-US" sz="1700" dirty="0">
                <a:solidFill>
                  <a:schemeClr val="tx1"/>
                </a:solidFill>
              </a:rPr>
              <a:t>Open quickdraw.withgoogle.com</a:t>
            </a:r>
            <a:endParaRPr lang="en-US" sz="1700" dirty="0"/>
          </a:p>
        </p:txBody>
      </p:sp>
      <p:sp>
        <p:nvSpPr>
          <p:cNvPr id="8" name="num-40"/>
          <p:cNvSpPr/>
          <p:nvPr/>
        </p:nvSpPr>
        <p:spPr>
          <a:xfrm>
            <a:off x="457200" y="2167128"/>
            <a:ext cx="411480" cy="411480"/>
          </a:xfrm>
          <a:prstGeom prst="ellipse">
            <a:avLst/>
          </a:prstGeom>
          <a:solidFill>
            <a:schemeClr val="accent1"/>
          </a:solidFill>
          <a:ln/>
        </p:spPr>
      </p:sp>
      <p:sp>
        <p:nvSpPr>
          <p:cNvPr id="9" name="Text 7"/>
          <p:cNvSpPr txBox="1"/>
          <p:nvPr/>
        </p:nvSpPr>
        <p:spPr>
          <a:xfrm>
            <a:off x="457200" y="216712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005840" y="2167128"/>
            <a:ext cx="4389120" cy="411480"/>
          </a:xfrm>
          <a:prstGeom prst="rect">
            <a:avLst/>
          </a:prstGeom>
          <a:noFill/>
          <a:ln/>
        </p:spPr>
        <p:txBody>
          <a:bodyPr wrap="square" lIns="0" tIns="0" rIns="0" bIns="0" rtlCol="0" anchor="ctr"/>
          <a:lstStyle/>
          <a:p>
            <a:pPr indent="0" marL="0">
              <a:buNone/>
            </a:pPr>
            <a:r>
              <a:rPr lang="en-US" sz="1700" dirty="0">
                <a:solidFill>
                  <a:schemeClr val="tx1"/>
                </a:solidFill>
              </a:rPr>
              <a:t>Click "Let's Draw!"</a:t>
            </a:r>
            <a:endParaRPr lang="en-US" sz="1700" dirty="0"/>
          </a:p>
        </p:txBody>
      </p:sp>
      <p:sp>
        <p:nvSpPr>
          <p:cNvPr id="11" name="num-41"/>
          <p:cNvSpPr/>
          <p:nvPr/>
        </p:nvSpPr>
        <p:spPr>
          <a:xfrm>
            <a:off x="457200" y="2734056"/>
            <a:ext cx="411480" cy="411480"/>
          </a:xfrm>
          <a:prstGeom prst="ellipse">
            <a:avLst/>
          </a:prstGeom>
          <a:solidFill>
            <a:schemeClr val="accent1"/>
          </a:solidFill>
          <a:ln/>
        </p:spPr>
      </p:sp>
      <p:sp>
        <p:nvSpPr>
          <p:cNvPr id="12" name="Text 10"/>
          <p:cNvSpPr txBox="1"/>
          <p:nvPr/>
        </p:nvSpPr>
        <p:spPr>
          <a:xfrm>
            <a:off x="457200" y="273405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05840" y="2734056"/>
            <a:ext cx="4389120" cy="411480"/>
          </a:xfrm>
          <a:prstGeom prst="rect">
            <a:avLst/>
          </a:prstGeom>
          <a:noFill/>
          <a:ln/>
        </p:spPr>
        <p:txBody>
          <a:bodyPr wrap="square" lIns="0" tIns="0" rIns="0" bIns="0" rtlCol="0" anchor="ctr"/>
          <a:lstStyle/>
          <a:p>
            <a:pPr indent="0" marL="0">
              <a:buNone/>
            </a:pPr>
            <a:r>
              <a:rPr lang="en-US" sz="1700" dirty="0">
                <a:solidFill>
                  <a:schemeClr val="tx1"/>
                </a:solidFill>
              </a:rPr>
              <a:t>Draw the word you see in 20 seconds</a:t>
            </a:r>
            <a:endParaRPr lang="en-US" sz="1700" dirty="0"/>
          </a:p>
        </p:txBody>
      </p:sp>
      <p:sp>
        <p:nvSpPr>
          <p:cNvPr id="14" name="num-42"/>
          <p:cNvSpPr/>
          <p:nvPr/>
        </p:nvSpPr>
        <p:spPr>
          <a:xfrm>
            <a:off x="457200" y="3300984"/>
            <a:ext cx="411480" cy="411480"/>
          </a:xfrm>
          <a:prstGeom prst="ellipse">
            <a:avLst/>
          </a:prstGeom>
          <a:solidFill>
            <a:schemeClr val="accent1"/>
          </a:solidFill>
          <a:ln/>
        </p:spPr>
      </p:sp>
      <p:sp>
        <p:nvSpPr>
          <p:cNvPr id="15" name="Text 13"/>
          <p:cNvSpPr txBox="1"/>
          <p:nvPr/>
        </p:nvSpPr>
        <p:spPr>
          <a:xfrm>
            <a:off x="457200" y="330098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4"/>
          <p:cNvSpPr txBox="1"/>
          <p:nvPr/>
        </p:nvSpPr>
        <p:spPr>
          <a:xfrm>
            <a:off x="1005840" y="3300984"/>
            <a:ext cx="4389120" cy="411480"/>
          </a:xfrm>
          <a:prstGeom prst="rect">
            <a:avLst/>
          </a:prstGeom>
          <a:noFill/>
          <a:ln/>
        </p:spPr>
        <p:txBody>
          <a:bodyPr wrap="square" lIns="0" tIns="0" rIns="0" bIns="0" rtlCol="0" anchor="ctr"/>
          <a:lstStyle/>
          <a:p>
            <a:pPr indent="0" marL="0">
              <a:buNone/>
            </a:pPr>
            <a:r>
              <a:rPr lang="en-US" sz="1700" dirty="0">
                <a:solidFill>
                  <a:schemeClr val="tx1"/>
                </a:solidFill>
              </a:rPr>
              <a:t>Watch the AI try to guess it live</a:t>
            </a:r>
            <a:endParaRPr lang="en-US" sz="1700" dirty="0"/>
          </a:p>
        </p:txBody>
      </p:sp>
      <p:sp>
        <p:nvSpPr>
          <p:cNvPr id="17" name="num-43"/>
          <p:cNvSpPr/>
          <p:nvPr/>
        </p:nvSpPr>
        <p:spPr>
          <a:xfrm>
            <a:off x="457200" y="3867912"/>
            <a:ext cx="411480" cy="411480"/>
          </a:xfrm>
          <a:prstGeom prst="ellipse">
            <a:avLst/>
          </a:prstGeom>
          <a:solidFill>
            <a:schemeClr val="accent1"/>
          </a:solidFill>
          <a:ln/>
        </p:spPr>
      </p:sp>
      <p:sp>
        <p:nvSpPr>
          <p:cNvPr id="18" name="Text 16"/>
          <p:cNvSpPr txBox="1"/>
          <p:nvPr/>
        </p:nvSpPr>
        <p:spPr>
          <a:xfrm>
            <a:off x="457200" y="386791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7"/>
          <p:cNvSpPr txBox="1"/>
          <p:nvPr/>
        </p:nvSpPr>
        <p:spPr>
          <a:xfrm>
            <a:off x="1005840" y="3867912"/>
            <a:ext cx="4389120" cy="411480"/>
          </a:xfrm>
          <a:prstGeom prst="rect">
            <a:avLst/>
          </a:prstGeom>
          <a:noFill/>
          <a:ln/>
        </p:spPr>
        <p:txBody>
          <a:bodyPr wrap="square" lIns="0" tIns="0" rIns="0" bIns="0" rtlCol="0" anchor="ctr"/>
          <a:lstStyle/>
          <a:p>
            <a:pPr indent="0" marL="0">
              <a:buNone/>
            </a:pPr>
            <a:r>
              <a:rPr lang="en-US" sz="1700" dirty="0">
                <a:solidFill>
                  <a:schemeClr val="tx1"/>
                </a:solidFill>
              </a:rPr>
              <a:t>Swap turns with your partner</a:t>
            </a:r>
            <a:endParaRPr lang="en-US" sz="1700" dirty="0"/>
          </a:p>
        </p:txBody>
      </p:sp>
      <p:sp>
        <p:nvSpPr>
          <p:cNvPr id="20" name="card-44"/>
          <p:cNvSpPr/>
          <p:nvPr/>
        </p:nvSpPr>
        <p:spPr>
          <a:xfrm>
            <a:off x="5669280" y="1097280"/>
            <a:ext cx="3017520" cy="3429000"/>
          </a:xfrm>
          <a:prstGeom prst="roundRect">
            <a:avLst>
              <a:gd name="adj" fmla="val 3636"/>
            </a:avLst>
          </a:prstGeom>
          <a:solidFill>
            <a:schemeClr val="bg1"/>
          </a:solidFill>
          <a:ln/>
        </p:spPr>
      </p:sp>
      <p:pic>
        <p:nvPicPr>
          <p:cNvPr id="21" name="icon-45" descr="preencoded.png">    </p:cNvPr>
          <p:cNvPicPr>
            <a:picLocks noChangeAspect="1"/>
          </p:cNvPicPr>
          <p:nvPr/>
        </p:nvPicPr>
        <p:blipFill>
          <a:blip r:embed="rId1"/>
          <a:stretch>
            <a:fillRect/>
          </a:stretch>
        </p:blipFill>
        <p:spPr>
          <a:xfrm>
            <a:off x="6812280" y="1325880"/>
            <a:ext cx="685800" cy="685800"/>
          </a:xfrm>
          <a:prstGeom prst="rect">
            <a:avLst/>
          </a:prstGeom>
        </p:spPr>
      </p:pic>
      <p:sp>
        <p:nvSpPr>
          <p:cNvPr id="22" name="Text 19"/>
          <p:cNvSpPr txBox="1"/>
          <p:nvPr/>
        </p:nvSpPr>
        <p:spPr>
          <a:xfrm>
            <a:off x="5852160" y="2011680"/>
            <a:ext cx="2651760" cy="365760"/>
          </a:xfrm>
          <a:prstGeom prst="rect">
            <a:avLst/>
          </a:prstGeom>
          <a:noFill/>
          <a:ln/>
        </p:spPr>
        <p:txBody>
          <a:bodyPr wrap="square" lIns="0" tIns="0" rIns="0" bIns="0" rtlCol="0" anchor="ctr"/>
          <a:lstStyle/>
          <a:p>
            <a:pPr algn="ctr" indent="0" marL="0">
              <a:buNone/>
            </a:pPr>
            <a:r>
              <a:rPr lang="en-US" sz="1800" b="1" dirty="0">
                <a:solidFill>
                  <a:schemeClr val="accent1"/>
                </a:solidFill>
              </a:rPr>
              <a:t>Challenge</a:t>
            </a:r>
            <a:endParaRPr lang="en-US" sz="1800" dirty="0"/>
          </a:p>
        </p:txBody>
      </p:sp>
      <p:sp>
        <p:nvSpPr>
          <p:cNvPr id="23" name="Text 20"/>
          <p:cNvSpPr txBox="1"/>
          <p:nvPr/>
        </p:nvSpPr>
        <p:spPr>
          <a:xfrm>
            <a:off x="5852160" y="2423160"/>
            <a:ext cx="2651760" cy="1005840"/>
          </a:xfrm>
          <a:prstGeom prst="rect">
            <a:avLst/>
          </a:prstGeom>
          <a:noFill/>
          <a:ln/>
        </p:spPr>
        <p:txBody>
          <a:bodyPr wrap="square" lIns="0" tIns="0" rIns="0" bIns="0" rtlCol="0" anchor="t"/>
          <a:lstStyle/>
          <a:p>
            <a:pPr algn="ctr" indent="0" marL="0">
              <a:buNone/>
            </a:pPr>
            <a:r>
              <a:rPr lang="en-US" sz="1600" dirty="0">
                <a:solidFill>
                  <a:schemeClr val="tx1"/>
                </a:solidFill>
              </a:rPr>
              <a:t>Which pair gets the most drawings guessed out of 6?</a:t>
            </a:r>
            <a:endParaRPr lang="en-US" sz="1600" dirty="0"/>
          </a:p>
        </p:txBody>
      </p:sp>
      <p:sp>
        <p:nvSpPr>
          <p:cNvPr id="24" name="Text 21"/>
          <p:cNvSpPr txBox="1"/>
          <p:nvPr/>
        </p:nvSpPr>
        <p:spPr>
          <a:xfrm>
            <a:off x="5852160" y="3794760"/>
            <a:ext cx="2651760" cy="548640"/>
          </a:xfrm>
          <a:prstGeom prst="rect">
            <a:avLst/>
          </a:prstGeom>
          <a:noFill/>
          <a:ln/>
        </p:spPr>
        <p:txBody>
          <a:bodyPr wrap="square" lIns="0" tIns="0" rIns="0" bIns="0" rtlCol="0" anchor="ctr"/>
          <a:lstStyle/>
          <a:p>
            <a:pPr algn="ctr" indent="0" marL="0">
              <a:buNone/>
            </a:pPr>
            <a:r>
              <a:rPr lang="en-US" sz="1200" i="1" dirty="0">
                <a:solidFill>
                  <a:schemeClr val="tx2"/>
                </a:solidFill>
              </a:rPr>
              <a:t>Don't write your name on the screen</a:t>
            </a:r>
            <a:endParaRPr lang="en-US" sz="12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Why did the AI guess right… or wrong?</a:t>
            </a:r>
            <a:endParaRPr lang="en-US" sz="3200" dirty="0"/>
          </a:p>
        </p:txBody>
      </p:sp>
      <p:sp>
        <p:nvSpPr>
          <p:cNvPr id="3" name="card-46"/>
          <p:cNvSpPr/>
          <p:nvPr/>
        </p:nvSpPr>
        <p:spPr>
          <a:xfrm>
            <a:off x="457200" y="1234440"/>
            <a:ext cx="2606040" cy="3108960"/>
          </a:xfrm>
          <a:prstGeom prst="roundRect">
            <a:avLst>
              <a:gd name="adj" fmla="val 4211"/>
            </a:avLst>
          </a:prstGeom>
          <a:solidFill>
            <a:schemeClr val="bg2"/>
          </a:solidFill>
          <a:ln/>
        </p:spPr>
      </p:sp>
      <p:sp>
        <p:nvSpPr>
          <p:cNvPr id="4" name="circle-47"/>
          <p:cNvSpPr/>
          <p:nvPr/>
        </p:nvSpPr>
        <p:spPr>
          <a:xfrm>
            <a:off x="1325880" y="1463040"/>
            <a:ext cx="868680" cy="868680"/>
          </a:xfrm>
          <a:prstGeom prst="ellipse">
            <a:avLst/>
          </a:prstGeom>
          <a:solidFill>
            <a:schemeClr val="accent3"/>
          </a:solidFill>
          <a:ln/>
        </p:spPr>
      </p:sp>
      <p:pic>
        <p:nvPicPr>
          <p:cNvPr id="5" name="icon-48" descr="preencoded.png">    </p:cNvPr>
          <p:cNvPicPr>
            <a:picLocks noChangeAspect="1"/>
          </p:cNvPicPr>
          <p:nvPr/>
        </p:nvPicPr>
        <p:blipFill>
          <a:blip r:embed="rId1"/>
          <a:stretch>
            <a:fillRect/>
          </a:stretch>
        </p:blipFill>
        <p:spPr>
          <a:xfrm>
            <a:off x="1560424" y="1697584"/>
            <a:ext cx="399593" cy="399593"/>
          </a:xfrm>
          <a:prstGeom prst="rect">
            <a:avLst/>
          </a:prstGeom>
        </p:spPr>
      </p:pic>
      <p:sp>
        <p:nvSpPr>
          <p:cNvPr id="6" name="Text 3"/>
          <p:cNvSpPr txBox="1"/>
          <p:nvPr/>
        </p:nvSpPr>
        <p:spPr>
          <a:xfrm>
            <a:off x="594360" y="2514600"/>
            <a:ext cx="2331720" cy="411480"/>
          </a:xfrm>
          <a:prstGeom prst="rect">
            <a:avLst/>
          </a:prstGeom>
          <a:noFill/>
          <a:ln/>
        </p:spPr>
        <p:txBody>
          <a:bodyPr wrap="square" lIns="0" tIns="0" rIns="0" bIns="0" rtlCol="0" anchor="ctr"/>
          <a:lstStyle/>
          <a:p>
            <a:pPr algn="ctr" indent="0" marL="0">
              <a:buNone/>
            </a:pPr>
            <a:r>
              <a:rPr lang="en-US" sz="1800" b="1" dirty="0">
                <a:solidFill>
                  <a:schemeClr val="tx1"/>
                </a:solidFill>
              </a:rPr>
              <a:t>Guessed right</a:t>
            </a:r>
            <a:endParaRPr lang="en-US" sz="1800" dirty="0"/>
          </a:p>
        </p:txBody>
      </p:sp>
      <p:sp>
        <p:nvSpPr>
          <p:cNvPr id="7" name="Text 4"/>
          <p:cNvSpPr txBox="1"/>
          <p:nvPr/>
        </p:nvSpPr>
        <p:spPr>
          <a:xfrm>
            <a:off x="640080" y="2971800"/>
            <a:ext cx="2240280" cy="1188720"/>
          </a:xfrm>
          <a:prstGeom prst="rect">
            <a:avLst/>
          </a:prstGeom>
          <a:noFill/>
          <a:ln/>
        </p:spPr>
        <p:txBody>
          <a:bodyPr wrap="square" lIns="0" tIns="0" rIns="0" bIns="0" rtlCol="0" anchor="t"/>
          <a:lstStyle/>
          <a:p>
            <a:pPr algn="ctr" indent="0" marL="0">
              <a:buNone/>
            </a:pPr>
            <a:r>
              <a:rPr lang="en-US" sz="1500" dirty="0">
                <a:solidFill>
                  <a:schemeClr val="tx2"/>
                </a:solidFill>
              </a:rPr>
              <a:t>It has seen millions of drawings like yours.</a:t>
            </a:r>
            <a:endParaRPr lang="en-US" sz="1500" dirty="0"/>
          </a:p>
        </p:txBody>
      </p:sp>
      <p:sp>
        <p:nvSpPr>
          <p:cNvPr id="8" name="card-49"/>
          <p:cNvSpPr/>
          <p:nvPr/>
        </p:nvSpPr>
        <p:spPr>
          <a:xfrm>
            <a:off x="3246120" y="1234440"/>
            <a:ext cx="2606040" cy="3108960"/>
          </a:xfrm>
          <a:prstGeom prst="roundRect">
            <a:avLst>
              <a:gd name="adj" fmla="val 4211"/>
            </a:avLst>
          </a:prstGeom>
          <a:solidFill>
            <a:schemeClr val="bg2"/>
          </a:solidFill>
          <a:ln/>
        </p:spPr>
      </p:sp>
      <p:sp>
        <p:nvSpPr>
          <p:cNvPr id="9" name="circle-50"/>
          <p:cNvSpPr/>
          <p:nvPr/>
        </p:nvSpPr>
        <p:spPr>
          <a:xfrm>
            <a:off x="4114800" y="1463040"/>
            <a:ext cx="868680" cy="868680"/>
          </a:xfrm>
          <a:prstGeom prst="ellipse">
            <a:avLst/>
          </a:prstGeom>
          <a:solidFill>
            <a:schemeClr val="accent5"/>
          </a:solidFill>
          <a:ln/>
        </p:spPr>
      </p:sp>
      <p:pic>
        <p:nvPicPr>
          <p:cNvPr id="10" name="icon-51" descr="preencoded.png">    </p:cNvPr>
          <p:cNvPicPr>
            <a:picLocks noChangeAspect="1"/>
          </p:cNvPicPr>
          <p:nvPr/>
        </p:nvPicPr>
        <p:blipFill>
          <a:blip r:embed="rId2"/>
          <a:stretch>
            <a:fillRect/>
          </a:stretch>
        </p:blipFill>
        <p:spPr>
          <a:xfrm>
            <a:off x="4349344" y="1697584"/>
            <a:ext cx="399593" cy="399593"/>
          </a:xfrm>
          <a:prstGeom prst="rect">
            <a:avLst/>
          </a:prstGeom>
        </p:spPr>
      </p:pic>
      <p:sp>
        <p:nvSpPr>
          <p:cNvPr id="11" name="Text 7"/>
          <p:cNvSpPr txBox="1"/>
          <p:nvPr/>
        </p:nvSpPr>
        <p:spPr>
          <a:xfrm>
            <a:off x="3383280" y="2514600"/>
            <a:ext cx="2331720" cy="411480"/>
          </a:xfrm>
          <a:prstGeom prst="rect">
            <a:avLst/>
          </a:prstGeom>
          <a:noFill/>
          <a:ln/>
        </p:spPr>
        <p:txBody>
          <a:bodyPr wrap="square" lIns="0" tIns="0" rIns="0" bIns="0" rtlCol="0" anchor="ctr"/>
          <a:lstStyle/>
          <a:p>
            <a:pPr algn="ctr" indent="0" marL="0">
              <a:buNone/>
            </a:pPr>
            <a:r>
              <a:rPr lang="en-US" sz="1800" b="1" dirty="0">
                <a:solidFill>
                  <a:schemeClr val="tx1"/>
                </a:solidFill>
              </a:rPr>
              <a:t>Guessed wrong</a:t>
            </a:r>
            <a:endParaRPr lang="en-US" sz="1800" dirty="0"/>
          </a:p>
        </p:txBody>
      </p:sp>
      <p:sp>
        <p:nvSpPr>
          <p:cNvPr id="12" name="Text 8"/>
          <p:cNvSpPr txBox="1"/>
          <p:nvPr/>
        </p:nvSpPr>
        <p:spPr>
          <a:xfrm>
            <a:off x="3429000" y="2971800"/>
            <a:ext cx="2240280" cy="1188720"/>
          </a:xfrm>
          <a:prstGeom prst="rect">
            <a:avLst/>
          </a:prstGeom>
          <a:noFill/>
          <a:ln/>
        </p:spPr>
        <p:txBody>
          <a:bodyPr wrap="square" lIns="0" tIns="0" rIns="0" bIns="0" rtlCol="0" anchor="t"/>
          <a:lstStyle/>
          <a:p>
            <a:pPr algn="ctr" indent="0" marL="0">
              <a:buNone/>
            </a:pPr>
            <a:r>
              <a:rPr lang="en-US" sz="1500" dirty="0">
                <a:solidFill>
                  <a:schemeClr val="tx2"/>
                </a:solidFill>
              </a:rPr>
              <a:t>Your drawing looked like something else, or it had too few examples.</a:t>
            </a:r>
            <a:endParaRPr lang="en-US" sz="1500" dirty="0"/>
          </a:p>
        </p:txBody>
      </p:sp>
      <p:sp>
        <p:nvSpPr>
          <p:cNvPr id="13" name="card-52"/>
          <p:cNvSpPr/>
          <p:nvPr/>
        </p:nvSpPr>
        <p:spPr>
          <a:xfrm>
            <a:off x="6035040" y="1234440"/>
            <a:ext cx="2606040" cy="3108960"/>
          </a:xfrm>
          <a:prstGeom prst="roundRect">
            <a:avLst>
              <a:gd name="adj" fmla="val 4211"/>
            </a:avLst>
          </a:prstGeom>
          <a:solidFill>
            <a:schemeClr val="bg2"/>
          </a:solidFill>
          <a:ln/>
        </p:spPr>
      </p:sp>
      <p:sp>
        <p:nvSpPr>
          <p:cNvPr id="14" name="circle-53"/>
          <p:cNvSpPr/>
          <p:nvPr/>
        </p:nvSpPr>
        <p:spPr>
          <a:xfrm>
            <a:off x="6903720" y="1463040"/>
            <a:ext cx="868680" cy="868680"/>
          </a:xfrm>
          <a:prstGeom prst="ellipse">
            <a:avLst/>
          </a:prstGeom>
          <a:solidFill>
            <a:schemeClr val="accent2"/>
          </a:solidFill>
          <a:ln/>
        </p:spPr>
      </p:sp>
      <p:pic>
        <p:nvPicPr>
          <p:cNvPr id="15" name="icon-54" descr="preencoded.png">    </p:cNvPr>
          <p:cNvPicPr>
            <a:picLocks noChangeAspect="1"/>
          </p:cNvPicPr>
          <p:nvPr/>
        </p:nvPicPr>
        <p:blipFill>
          <a:blip r:embed="rId3"/>
          <a:stretch>
            <a:fillRect/>
          </a:stretch>
        </p:blipFill>
        <p:spPr>
          <a:xfrm>
            <a:off x="7138264" y="1697584"/>
            <a:ext cx="399593" cy="399593"/>
          </a:xfrm>
          <a:prstGeom prst="rect">
            <a:avLst/>
          </a:prstGeom>
        </p:spPr>
      </p:pic>
      <p:sp>
        <p:nvSpPr>
          <p:cNvPr id="16" name="Text 11"/>
          <p:cNvSpPr txBox="1"/>
          <p:nvPr/>
        </p:nvSpPr>
        <p:spPr>
          <a:xfrm>
            <a:off x="6172200" y="2514600"/>
            <a:ext cx="2331720" cy="411480"/>
          </a:xfrm>
          <a:prstGeom prst="rect">
            <a:avLst/>
          </a:prstGeom>
          <a:noFill/>
          <a:ln/>
        </p:spPr>
        <p:txBody>
          <a:bodyPr wrap="square" lIns="0" tIns="0" rIns="0" bIns="0" rtlCol="0" anchor="ctr"/>
          <a:lstStyle/>
          <a:p>
            <a:pPr algn="ctr" indent="0" marL="0">
              <a:buNone/>
            </a:pPr>
            <a:r>
              <a:rPr lang="en-US" sz="1800" b="1" dirty="0">
                <a:solidFill>
                  <a:schemeClr val="tx1"/>
                </a:solidFill>
              </a:rPr>
              <a:t>Big lesson</a:t>
            </a:r>
            <a:endParaRPr lang="en-US" sz="1800" dirty="0"/>
          </a:p>
        </p:txBody>
      </p:sp>
      <p:sp>
        <p:nvSpPr>
          <p:cNvPr id="17" name="Text 12"/>
          <p:cNvSpPr txBox="1"/>
          <p:nvPr/>
        </p:nvSpPr>
        <p:spPr>
          <a:xfrm>
            <a:off x="6217920" y="2971800"/>
            <a:ext cx="2240280" cy="1188720"/>
          </a:xfrm>
          <a:prstGeom prst="rect">
            <a:avLst/>
          </a:prstGeom>
          <a:noFill/>
          <a:ln/>
        </p:spPr>
        <p:txBody>
          <a:bodyPr wrap="square" lIns="0" tIns="0" rIns="0" bIns="0" rtlCol="0" anchor="t"/>
          <a:lstStyle/>
          <a:p>
            <a:pPr algn="ctr" indent="0" marL="0">
              <a:buNone/>
            </a:pPr>
            <a:r>
              <a:rPr lang="en-US" sz="1500" dirty="0">
                <a:solidFill>
                  <a:schemeClr val="tx2"/>
                </a:solidFill>
              </a:rPr>
              <a:t>AI is only as good as the examples it learns from.</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Activity 2: Teach a computer yourself</a:t>
            </a:r>
            <a:endParaRPr lang="en-US" sz="3200" dirty="0"/>
          </a:p>
        </p:txBody>
      </p:sp>
      <p:sp>
        <p:nvSpPr>
          <p:cNvPr id="3" name="tag-55"/>
          <p:cNvSpPr/>
          <p:nvPr/>
        </p:nvSpPr>
        <p:spPr>
          <a:xfrm>
            <a:off x="457200" y="1097280"/>
            <a:ext cx="2560320" cy="329184"/>
          </a:xfrm>
          <a:prstGeom prst="roundRect">
            <a:avLst>
              <a:gd name="adj" fmla="val 50000"/>
            </a:avLst>
          </a:prstGeom>
          <a:solidFill>
            <a:schemeClr val="accent1"/>
          </a:solidFill>
          <a:ln/>
        </p:spPr>
      </p:sp>
      <p:sp>
        <p:nvSpPr>
          <p:cNvPr id="4" name="tagtext-56"/>
          <p:cNvSpPr txBox="1"/>
          <p:nvPr/>
        </p:nvSpPr>
        <p:spPr>
          <a:xfrm>
            <a:off x="457200" y="1097280"/>
            <a:ext cx="2560320" cy="329184"/>
          </a:xfrm>
          <a:prstGeom prst="rect">
            <a:avLst/>
          </a:prstGeom>
          <a:noFill/>
          <a:ln/>
        </p:spPr>
        <p:txBody>
          <a:bodyPr wrap="square" lIns="0" tIns="0" rIns="0" bIns="0" rtlCol="0" anchor="ctr"/>
          <a:lstStyle/>
          <a:p>
            <a:pPr algn="ctr" indent="0" marL="0">
              <a:buNone/>
            </a:pPr>
            <a:r>
              <a:rPr lang="en-US" sz="1200" b="1" dirty="0">
                <a:solidFill>
                  <a:schemeClr val="bg1"/>
                </a:solidFill>
              </a:rPr>
              <a:t>20 minutes · groups of 3–4</a:t>
            </a:r>
            <a:endParaRPr lang="en-US" sz="1200" dirty="0"/>
          </a:p>
        </p:txBody>
      </p:sp>
      <p:sp>
        <p:nvSpPr>
          <p:cNvPr id="5" name="num-57"/>
          <p:cNvSpPr/>
          <p:nvPr/>
        </p:nvSpPr>
        <p:spPr>
          <a:xfrm>
            <a:off x="457200" y="1600200"/>
            <a:ext cx="411480" cy="411480"/>
          </a:xfrm>
          <a:prstGeom prst="ellipse">
            <a:avLst/>
          </a:prstGeom>
          <a:solidFill>
            <a:schemeClr val="accent4"/>
          </a:solidFill>
          <a:ln/>
        </p:spPr>
      </p:sp>
      <p:sp>
        <p:nvSpPr>
          <p:cNvPr id="6" name="Text 4"/>
          <p:cNvSpPr txBox="1"/>
          <p:nvPr/>
        </p:nvSpPr>
        <p:spPr>
          <a:xfrm>
            <a:off x="457200" y="1600200"/>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7" name="Text 5"/>
          <p:cNvSpPr txBox="1"/>
          <p:nvPr/>
        </p:nvSpPr>
        <p:spPr>
          <a:xfrm>
            <a:off x="1005840" y="1600200"/>
            <a:ext cx="4572000" cy="411480"/>
          </a:xfrm>
          <a:prstGeom prst="rect">
            <a:avLst/>
          </a:prstGeom>
          <a:noFill/>
          <a:ln/>
        </p:spPr>
        <p:txBody>
          <a:bodyPr wrap="square" lIns="0" tIns="0" rIns="0" bIns="0" rtlCol="0" anchor="ctr"/>
          <a:lstStyle/>
          <a:p>
            <a:pPr indent="0" marL="0">
              <a:buNone/>
            </a:pPr>
            <a:r>
              <a:rPr lang="en-US" sz="1700" dirty="0">
                <a:solidFill>
                  <a:schemeClr val="tx1"/>
                </a:solidFill>
              </a:rPr>
              <a:t>Open teachablemachine.withgoogle.com</a:t>
            </a:r>
            <a:endParaRPr lang="en-US" sz="1700" dirty="0"/>
          </a:p>
        </p:txBody>
      </p:sp>
      <p:sp>
        <p:nvSpPr>
          <p:cNvPr id="8" name="num-58"/>
          <p:cNvSpPr/>
          <p:nvPr/>
        </p:nvSpPr>
        <p:spPr>
          <a:xfrm>
            <a:off x="457200" y="2167128"/>
            <a:ext cx="411480" cy="411480"/>
          </a:xfrm>
          <a:prstGeom prst="ellipse">
            <a:avLst/>
          </a:prstGeom>
          <a:solidFill>
            <a:schemeClr val="accent4"/>
          </a:solidFill>
          <a:ln/>
        </p:spPr>
      </p:sp>
      <p:sp>
        <p:nvSpPr>
          <p:cNvPr id="9" name="Text 7"/>
          <p:cNvSpPr txBox="1"/>
          <p:nvPr/>
        </p:nvSpPr>
        <p:spPr>
          <a:xfrm>
            <a:off x="457200" y="2167128"/>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10" name="Text 8"/>
          <p:cNvSpPr txBox="1"/>
          <p:nvPr/>
        </p:nvSpPr>
        <p:spPr>
          <a:xfrm>
            <a:off x="1005840" y="2167128"/>
            <a:ext cx="4572000" cy="411480"/>
          </a:xfrm>
          <a:prstGeom prst="rect">
            <a:avLst/>
          </a:prstGeom>
          <a:noFill/>
          <a:ln/>
        </p:spPr>
        <p:txBody>
          <a:bodyPr wrap="square" lIns="0" tIns="0" rIns="0" bIns="0" rtlCol="0" anchor="ctr"/>
          <a:lstStyle/>
          <a:p>
            <a:pPr indent="0" marL="0">
              <a:buNone/>
            </a:pPr>
            <a:r>
              <a:rPr lang="en-US" sz="1700" dirty="0">
                <a:solidFill>
                  <a:schemeClr val="tx1"/>
                </a:solidFill>
              </a:rPr>
              <a:t>Get Started → Image Project → Standard</a:t>
            </a:r>
            <a:endParaRPr lang="en-US" sz="1700" dirty="0"/>
          </a:p>
        </p:txBody>
      </p:sp>
      <p:sp>
        <p:nvSpPr>
          <p:cNvPr id="11" name="num-59"/>
          <p:cNvSpPr/>
          <p:nvPr/>
        </p:nvSpPr>
        <p:spPr>
          <a:xfrm>
            <a:off x="457200" y="2734056"/>
            <a:ext cx="411480" cy="411480"/>
          </a:xfrm>
          <a:prstGeom prst="ellipse">
            <a:avLst/>
          </a:prstGeom>
          <a:solidFill>
            <a:schemeClr val="accent4"/>
          </a:solidFill>
          <a:ln/>
        </p:spPr>
      </p:sp>
      <p:sp>
        <p:nvSpPr>
          <p:cNvPr id="12" name="Text 10"/>
          <p:cNvSpPr txBox="1"/>
          <p:nvPr/>
        </p:nvSpPr>
        <p:spPr>
          <a:xfrm>
            <a:off x="457200" y="2734056"/>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ext 11"/>
          <p:cNvSpPr txBox="1"/>
          <p:nvPr/>
        </p:nvSpPr>
        <p:spPr>
          <a:xfrm>
            <a:off x="1005840" y="2734056"/>
            <a:ext cx="4572000" cy="411480"/>
          </a:xfrm>
          <a:prstGeom prst="rect">
            <a:avLst/>
          </a:prstGeom>
          <a:noFill/>
          <a:ln/>
        </p:spPr>
        <p:txBody>
          <a:bodyPr wrap="square" lIns="0" tIns="0" rIns="0" bIns="0" rtlCol="0" anchor="ctr"/>
          <a:lstStyle/>
          <a:p>
            <a:pPr indent="0" marL="0">
              <a:buNone/>
            </a:pPr>
            <a:r>
              <a:rPr lang="en-US" sz="1700" dirty="0">
                <a:solidFill>
                  <a:schemeClr val="tx1"/>
                </a:solidFill>
              </a:rPr>
              <a:t>Rename classes: Rock, Paper, Scissors</a:t>
            </a:r>
            <a:endParaRPr lang="en-US" sz="1700" dirty="0"/>
          </a:p>
        </p:txBody>
      </p:sp>
      <p:sp>
        <p:nvSpPr>
          <p:cNvPr id="14" name="num-60"/>
          <p:cNvSpPr/>
          <p:nvPr/>
        </p:nvSpPr>
        <p:spPr>
          <a:xfrm>
            <a:off x="457200" y="3300984"/>
            <a:ext cx="411480" cy="411480"/>
          </a:xfrm>
          <a:prstGeom prst="ellipse">
            <a:avLst/>
          </a:prstGeom>
          <a:solidFill>
            <a:schemeClr val="accent4"/>
          </a:solidFill>
          <a:ln/>
        </p:spPr>
      </p:sp>
      <p:sp>
        <p:nvSpPr>
          <p:cNvPr id="15" name="Text 13"/>
          <p:cNvSpPr txBox="1"/>
          <p:nvPr/>
        </p:nvSpPr>
        <p:spPr>
          <a:xfrm>
            <a:off x="457200" y="3300984"/>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6" name="Text 14"/>
          <p:cNvSpPr txBox="1"/>
          <p:nvPr/>
        </p:nvSpPr>
        <p:spPr>
          <a:xfrm>
            <a:off x="1005840" y="3300984"/>
            <a:ext cx="4572000" cy="411480"/>
          </a:xfrm>
          <a:prstGeom prst="rect">
            <a:avLst/>
          </a:prstGeom>
          <a:noFill/>
          <a:ln/>
        </p:spPr>
        <p:txBody>
          <a:bodyPr wrap="square" lIns="0" tIns="0" rIns="0" bIns="0" rtlCol="0" anchor="ctr"/>
          <a:lstStyle/>
          <a:p>
            <a:pPr indent="0" marL="0">
              <a:buNone/>
            </a:pPr>
            <a:r>
              <a:rPr lang="en-US" sz="1700" dirty="0">
                <a:solidFill>
                  <a:schemeClr val="tx1"/>
                </a:solidFill>
              </a:rPr>
              <a:t>Hold to record ~50 pictures for each hand sign</a:t>
            </a:r>
            <a:endParaRPr lang="en-US" sz="1700" dirty="0"/>
          </a:p>
        </p:txBody>
      </p:sp>
      <p:sp>
        <p:nvSpPr>
          <p:cNvPr id="17" name="num-61"/>
          <p:cNvSpPr/>
          <p:nvPr/>
        </p:nvSpPr>
        <p:spPr>
          <a:xfrm>
            <a:off x="457200" y="3867912"/>
            <a:ext cx="411480" cy="411480"/>
          </a:xfrm>
          <a:prstGeom prst="ellipse">
            <a:avLst/>
          </a:prstGeom>
          <a:solidFill>
            <a:schemeClr val="accent4"/>
          </a:solidFill>
          <a:ln/>
        </p:spPr>
      </p:sp>
      <p:sp>
        <p:nvSpPr>
          <p:cNvPr id="18" name="Text 16"/>
          <p:cNvSpPr txBox="1"/>
          <p:nvPr/>
        </p:nvSpPr>
        <p:spPr>
          <a:xfrm>
            <a:off x="457200" y="3867912"/>
            <a:ext cx="411480" cy="41148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19" name="Text 17"/>
          <p:cNvSpPr txBox="1"/>
          <p:nvPr/>
        </p:nvSpPr>
        <p:spPr>
          <a:xfrm>
            <a:off x="1005840" y="3867912"/>
            <a:ext cx="4572000" cy="411480"/>
          </a:xfrm>
          <a:prstGeom prst="rect">
            <a:avLst/>
          </a:prstGeom>
          <a:noFill/>
          <a:ln/>
        </p:spPr>
        <p:txBody>
          <a:bodyPr wrap="square" lIns="0" tIns="0" rIns="0" bIns="0" rtlCol="0" anchor="ctr"/>
          <a:lstStyle/>
          <a:p>
            <a:pPr indent="0" marL="0">
              <a:buNone/>
            </a:pPr>
            <a:r>
              <a:rPr lang="en-US" sz="1700" dirty="0">
                <a:solidFill>
                  <a:schemeClr val="tx1"/>
                </a:solidFill>
              </a:rPr>
              <a:t>Click Train Model, then test it live!</a:t>
            </a:r>
            <a:endParaRPr lang="en-US" sz="1700" dirty="0"/>
          </a:p>
        </p:txBody>
      </p:sp>
      <p:sp>
        <p:nvSpPr>
          <p:cNvPr id="20" name="card-62"/>
          <p:cNvSpPr/>
          <p:nvPr/>
        </p:nvSpPr>
        <p:spPr>
          <a:xfrm>
            <a:off x="5897880" y="1600200"/>
            <a:ext cx="822960" cy="1234440"/>
          </a:xfrm>
          <a:prstGeom prst="roundRect">
            <a:avLst>
              <a:gd name="adj" fmla="val 13333"/>
            </a:avLst>
          </a:prstGeom>
          <a:solidFill>
            <a:schemeClr val="bg1"/>
          </a:solidFill>
          <a:ln/>
        </p:spPr>
      </p:sp>
      <p:pic>
        <p:nvPicPr>
          <p:cNvPr id="21" name="icon-63" descr="preencoded.png">    </p:cNvPr>
          <p:cNvPicPr>
            <a:picLocks noChangeAspect="1"/>
          </p:cNvPicPr>
          <p:nvPr/>
        </p:nvPicPr>
        <p:blipFill>
          <a:blip r:embed="rId1"/>
          <a:stretch>
            <a:fillRect/>
          </a:stretch>
        </p:blipFill>
        <p:spPr>
          <a:xfrm>
            <a:off x="6080760" y="1737360"/>
            <a:ext cx="457200" cy="457200"/>
          </a:xfrm>
          <a:prstGeom prst="rect">
            <a:avLst/>
          </a:prstGeom>
        </p:spPr>
      </p:pic>
      <p:sp>
        <p:nvSpPr>
          <p:cNvPr id="22" name="Text 19"/>
          <p:cNvSpPr txBox="1"/>
          <p:nvPr/>
        </p:nvSpPr>
        <p:spPr>
          <a:xfrm>
            <a:off x="5897880" y="2377440"/>
            <a:ext cx="822960" cy="320040"/>
          </a:xfrm>
          <a:prstGeom prst="rect">
            <a:avLst/>
          </a:prstGeom>
          <a:noFill/>
          <a:ln/>
        </p:spPr>
        <p:txBody>
          <a:bodyPr wrap="square" lIns="0" tIns="0" rIns="0" bIns="0" rtlCol="0" anchor="ctr"/>
          <a:lstStyle/>
          <a:p>
            <a:pPr algn="ctr" indent="0" marL="0">
              <a:buNone/>
            </a:pPr>
            <a:r>
              <a:rPr lang="en-US" sz="1200" b="1" dirty="0">
                <a:solidFill>
                  <a:schemeClr val="tx1"/>
                </a:solidFill>
              </a:rPr>
              <a:t>Rock</a:t>
            </a:r>
            <a:endParaRPr lang="en-US" sz="1200" dirty="0"/>
          </a:p>
        </p:txBody>
      </p:sp>
      <p:sp>
        <p:nvSpPr>
          <p:cNvPr id="23" name="card-64"/>
          <p:cNvSpPr/>
          <p:nvPr/>
        </p:nvSpPr>
        <p:spPr>
          <a:xfrm>
            <a:off x="6839712" y="1600200"/>
            <a:ext cx="822960" cy="1234440"/>
          </a:xfrm>
          <a:prstGeom prst="roundRect">
            <a:avLst>
              <a:gd name="adj" fmla="val 13333"/>
            </a:avLst>
          </a:prstGeom>
          <a:solidFill>
            <a:schemeClr val="bg1"/>
          </a:solidFill>
          <a:ln/>
        </p:spPr>
      </p:sp>
      <p:pic>
        <p:nvPicPr>
          <p:cNvPr id="24" name="icon-65" descr="preencoded.png">    </p:cNvPr>
          <p:cNvPicPr>
            <a:picLocks noChangeAspect="1"/>
          </p:cNvPicPr>
          <p:nvPr/>
        </p:nvPicPr>
        <p:blipFill>
          <a:blip r:embed="rId2"/>
          <a:stretch>
            <a:fillRect/>
          </a:stretch>
        </p:blipFill>
        <p:spPr>
          <a:xfrm>
            <a:off x="7022592" y="1737360"/>
            <a:ext cx="457200" cy="457200"/>
          </a:xfrm>
          <a:prstGeom prst="rect">
            <a:avLst/>
          </a:prstGeom>
        </p:spPr>
      </p:pic>
      <p:sp>
        <p:nvSpPr>
          <p:cNvPr id="25" name="Text 21"/>
          <p:cNvSpPr txBox="1"/>
          <p:nvPr/>
        </p:nvSpPr>
        <p:spPr>
          <a:xfrm>
            <a:off x="6839712" y="2377440"/>
            <a:ext cx="822960" cy="320040"/>
          </a:xfrm>
          <a:prstGeom prst="rect">
            <a:avLst/>
          </a:prstGeom>
          <a:noFill/>
          <a:ln/>
        </p:spPr>
        <p:txBody>
          <a:bodyPr wrap="square" lIns="0" tIns="0" rIns="0" bIns="0" rtlCol="0" anchor="ctr"/>
          <a:lstStyle/>
          <a:p>
            <a:pPr algn="ctr" indent="0" marL="0">
              <a:buNone/>
            </a:pPr>
            <a:r>
              <a:rPr lang="en-US" sz="1200" b="1" dirty="0">
                <a:solidFill>
                  <a:schemeClr val="tx1"/>
                </a:solidFill>
              </a:rPr>
              <a:t>Paper</a:t>
            </a:r>
            <a:endParaRPr lang="en-US" sz="1200" dirty="0"/>
          </a:p>
        </p:txBody>
      </p:sp>
      <p:sp>
        <p:nvSpPr>
          <p:cNvPr id="26" name="card-66"/>
          <p:cNvSpPr/>
          <p:nvPr/>
        </p:nvSpPr>
        <p:spPr>
          <a:xfrm>
            <a:off x="7781544" y="1600200"/>
            <a:ext cx="822960" cy="1234440"/>
          </a:xfrm>
          <a:prstGeom prst="roundRect">
            <a:avLst>
              <a:gd name="adj" fmla="val 13333"/>
            </a:avLst>
          </a:prstGeom>
          <a:solidFill>
            <a:schemeClr val="bg1"/>
          </a:solidFill>
          <a:ln/>
        </p:spPr>
      </p:sp>
      <p:pic>
        <p:nvPicPr>
          <p:cNvPr id="27" name="icon-67" descr="preencoded.png">    </p:cNvPr>
          <p:cNvPicPr>
            <a:picLocks noChangeAspect="1"/>
          </p:cNvPicPr>
          <p:nvPr/>
        </p:nvPicPr>
        <p:blipFill>
          <a:blip r:embed="rId3"/>
          <a:stretch>
            <a:fillRect/>
          </a:stretch>
        </p:blipFill>
        <p:spPr>
          <a:xfrm>
            <a:off x="7964424" y="1737360"/>
            <a:ext cx="457200" cy="457200"/>
          </a:xfrm>
          <a:prstGeom prst="rect">
            <a:avLst/>
          </a:prstGeom>
        </p:spPr>
      </p:pic>
      <p:sp>
        <p:nvSpPr>
          <p:cNvPr id="28" name="Text 23"/>
          <p:cNvSpPr txBox="1"/>
          <p:nvPr/>
        </p:nvSpPr>
        <p:spPr>
          <a:xfrm>
            <a:off x="7781544" y="2377440"/>
            <a:ext cx="822960" cy="320040"/>
          </a:xfrm>
          <a:prstGeom prst="rect">
            <a:avLst/>
          </a:prstGeom>
          <a:noFill/>
          <a:ln/>
        </p:spPr>
        <p:txBody>
          <a:bodyPr wrap="square" lIns="0" tIns="0" rIns="0" bIns="0" rtlCol="0" anchor="ctr"/>
          <a:lstStyle/>
          <a:p>
            <a:pPr algn="ctr" indent="0" marL="0">
              <a:buNone/>
            </a:pPr>
            <a:r>
              <a:rPr lang="en-US" sz="1200" b="1" dirty="0">
                <a:solidFill>
                  <a:schemeClr val="tx1"/>
                </a:solidFill>
              </a:rPr>
              <a:t>Scissors</a:t>
            </a:r>
            <a:endParaRPr lang="en-US" sz="1200" dirty="0"/>
          </a:p>
        </p:txBody>
      </p:sp>
      <p:sp>
        <p:nvSpPr>
          <p:cNvPr id="29" name="Text 24"/>
          <p:cNvSpPr txBox="1"/>
          <p:nvPr/>
        </p:nvSpPr>
        <p:spPr>
          <a:xfrm>
            <a:off x="5897880" y="3063240"/>
            <a:ext cx="2788920" cy="822960"/>
          </a:xfrm>
          <a:prstGeom prst="rect">
            <a:avLst/>
          </a:prstGeom>
          <a:noFill/>
          <a:ln/>
        </p:spPr>
        <p:txBody>
          <a:bodyPr wrap="square" lIns="0" tIns="0" rIns="0" bIns="0" rtlCol="0" anchor="ctr"/>
          <a:lstStyle/>
          <a:p>
            <a:pPr indent="0" marL="0">
              <a:buNone/>
            </a:pPr>
            <a:r>
              <a:rPr lang="en-US" sz="1300" i="1" dirty="0">
                <a:solidFill>
                  <a:schemeClr val="tx2"/>
                </a:solidFill>
              </a:rPr>
              <a:t>Your pictures stay on your computer. Nothing is uploaded.</a:t>
            </a:r>
            <a:endParaRPr lang="en-US" sz="13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Make your AI smarter</a:t>
            </a:r>
            <a:endParaRPr lang="en-US" sz="3200" dirty="0"/>
          </a:p>
        </p:txBody>
      </p:sp>
      <p:sp>
        <p:nvSpPr>
          <p:cNvPr id="3" name="card-68"/>
          <p:cNvSpPr/>
          <p:nvPr/>
        </p:nvSpPr>
        <p:spPr>
          <a:xfrm>
            <a:off x="457200" y="1234440"/>
            <a:ext cx="4023360" cy="1417320"/>
          </a:xfrm>
          <a:prstGeom prst="roundRect">
            <a:avLst>
              <a:gd name="adj" fmla="val 7742"/>
            </a:avLst>
          </a:prstGeom>
          <a:solidFill>
            <a:schemeClr val="bg2"/>
          </a:solidFill>
          <a:ln/>
        </p:spPr>
      </p:sp>
      <p:sp>
        <p:nvSpPr>
          <p:cNvPr id="4" name="circle-69"/>
          <p:cNvSpPr/>
          <p:nvPr/>
        </p:nvSpPr>
        <p:spPr>
          <a:xfrm>
            <a:off x="685800" y="1508760"/>
            <a:ext cx="868680" cy="868680"/>
          </a:xfrm>
          <a:prstGeom prst="ellipse">
            <a:avLst/>
          </a:prstGeom>
          <a:solidFill>
            <a:schemeClr val="accent2"/>
          </a:solidFill>
          <a:ln/>
        </p:spPr>
      </p:sp>
      <p:pic>
        <p:nvPicPr>
          <p:cNvPr id="5" name="icon-70" descr="preencoded.png">    </p:cNvPr>
          <p:cNvPicPr>
            <a:picLocks noChangeAspect="1"/>
          </p:cNvPicPr>
          <p:nvPr/>
        </p:nvPicPr>
        <p:blipFill>
          <a:blip r:embed="rId1"/>
          <a:stretch>
            <a:fillRect/>
          </a:stretch>
        </p:blipFill>
        <p:spPr>
          <a:xfrm>
            <a:off x="920344" y="1743304"/>
            <a:ext cx="399593" cy="399593"/>
          </a:xfrm>
          <a:prstGeom prst="rect">
            <a:avLst/>
          </a:prstGeom>
        </p:spPr>
      </p:pic>
      <p:sp>
        <p:nvSpPr>
          <p:cNvPr id="6" name="Text 3"/>
          <p:cNvSpPr txBox="1"/>
          <p:nvPr/>
        </p:nvSpPr>
        <p:spPr>
          <a:xfrm>
            <a:off x="1737360" y="1508760"/>
            <a:ext cx="2606040" cy="411480"/>
          </a:xfrm>
          <a:prstGeom prst="rect">
            <a:avLst/>
          </a:prstGeom>
          <a:noFill/>
          <a:ln/>
        </p:spPr>
        <p:txBody>
          <a:bodyPr wrap="square" lIns="0" tIns="0" rIns="0" bIns="0" rtlCol="0" anchor="ctr"/>
          <a:lstStyle/>
          <a:p>
            <a:pPr indent="0" marL="0">
              <a:buNone/>
            </a:pPr>
            <a:r>
              <a:rPr lang="en-US" sz="1800" b="1" dirty="0">
                <a:solidFill>
                  <a:schemeClr val="tx1"/>
                </a:solidFill>
              </a:rPr>
              <a:t>More pictures</a:t>
            </a:r>
            <a:endParaRPr lang="en-US" sz="1800" dirty="0"/>
          </a:p>
        </p:txBody>
      </p:sp>
      <p:sp>
        <p:nvSpPr>
          <p:cNvPr id="7" name="Text 4"/>
          <p:cNvSpPr txBox="1"/>
          <p:nvPr/>
        </p:nvSpPr>
        <p:spPr>
          <a:xfrm>
            <a:off x="1737360" y="1920240"/>
            <a:ext cx="2606040" cy="594360"/>
          </a:xfrm>
          <a:prstGeom prst="rect">
            <a:avLst/>
          </a:prstGeom>
          <a:noFill/>
          <a:ln/>
        </p:spPr>
        <p:txBody>
          <a:bodyPr wrap="square" lIns="0" tIns="0" rIns="0" bIns="0" rtlCol="0" anchor="t"/>
          <a:lstStyle/>
          <a:p>
            <a:pPr indent="0" marL="0">
              <a:buNone/>
            </a:pPr>
            <a:r>
              <a:rPr lang="en-US" sz="1400" dirty="0">
                <a:solidFill>
                  <a:schemeClr val="tx2"/>
                </a:solidFill>
              </a:rPr>
              <a:t>Record more examples for each sign</a:t>
            </a:r>
            <a:endParaRPr lang="en-US" sz="1400" dirty="0"/>
          </a:p>
        </p:txBody>
      </p:sp>
      <p:sp>
        <p:nvSpPr>
          <p:cNvPr id="8" name="card-71"/>
          <p:cNvSpPr/>
          <p:nvPr/>
        </p:nvSpPr>
        <p:spPr>
          <a:xfrm>
            <a:off x="4663440" y="1234440"/>
            <a:ext cx="4023360" cy="1417320"/>
          </a:xfrm>
          <a:prstGeom prst="roundRect">
            <a:avLst>
              <a:gd name="adj" fmla="val 7742"/>
            </a:avLst>
          </a:prstGeom>
          <a:solidFill>
            <a:schemeClr val="bg2"/>
          </a:solidFill>
          <a:ln/>
        </p:spPr>
      </p:sp>
      <p:sp>
        <p:nvSpPr>
          <p:cNvPr id="9" name="circle-72"/>
          <p:cNvSpPr/>
          <p:nvPr/>
        </p:nvSpPr>
        <p:spPr>
          <a:xfrm>
            <a:off x="4892040" y="1508760"/>
            <a:ext cx="868680" cy="868680"/>
          </a:xfrm>
          <a:prstGeom prst="ellipse">
            <a:avLst/>
          </a:prstGeom>
          <a:solidFill>
            <a:schemeClr val="accent3"/>
          </a:solidFill>
          <a:ln/>
        </p:spPr>
      </p:sp>
      <p:pic>
        <p:nvPicPr>
          <p:cNvPr id="10" name="icon-73" descr="preencoded.png">    </p:cNvPr>
          <p:cNvPicPr>
            <a:picLocks noChangeAspect="1"/>
          </p:cNvPicPr>
          <p:nvPr/>
        </p:nvPicPr>
        <p:blipFill>
          <a:blip r:embed="rId2"/>
          <a:stretch>
            <a:fillRect/>
          </a:stretch>
        </p:blipFill>
        <p:spPr>
          <a:xfrm>
            <a:off x="5126584" y="1743304"/>
            <a:ext cx="399593" cy="399593"/>
          </a:xfrm>
          <a:prstGeom prst="rect">
            <a:avLst/>
          </a:prstGeom>
        </p:spPr>
      </p:pic>
      <p:sp>
        <p:nvSpPr>
          <p:cNvPr id="11" name="Text 7"/>
          <p:cNvSpPr txBox="1"/>
          <p:nvPr/>
        </p:nvSpPr>
        <p:spPr>
          <a:xfrm>
            <a:off x="5943600" y="1508760"/>
            <a:ext cx="2606040" cy="411480"/>
          </a:xfrm>
          <a:prstGeom prst="rect">
            <a:avLst/>
          </a:prstGeom>
          <a:noFill/>
          <a:ln/>
        </p:spPr>
        <p:txBody>
          <a:bodyPr wrap="square" lIns="0" tIns="0" rIns="0" bIns="0" rtlCol="0" anchor="ctr"/>
          <a:lstStyle/>
          <a:p>
            <a:pPr indent="0" marL="0">
              <a:buNone/>
            </a:pPr>
            <a:r>
              <a:rPr lang="en-US" sz="1800" b="1" dirty="0">
                <a:solidFill>
                  <a:schemeClr val="tx1"/>
                </a:solidFill>
              </a:rPr>
              <a:t>Different angles</a:t>
            </a:r>
            <a:endParaRPr lang="en-US" sz="1800" dirty="0"/>
          </a:p>
        </p:txBody>
      </p:sp>
      <p:sp>
        <p:nvSpPr>
          <p:cNvPr id="12" name="Text 8"/>
          <p:cNvSpPr txBox="1"/>
          <p:nvPr/>
        </p:nvSpPr>
        <p:spPr>
          <a:xfrm>
            <a:off x="5943600" y="1920240"/>
            <a:ext cx="2606040" cy="594360"/>
          </a:xfrm>
          <a:prstGeom prst="rect">
            <a:avLst/>
          </a:prstGeom>
          <a:noFill/>
          <a:ln/>
        </p:spPr>
        <p:txBody>
          <a:bodyPr wrap="square" lIns="0" tIns="0" rIns="0" bIns="0" rtlCol="0" anchor="t"/>
          <a:lstStyle/>
          <a:p>
            <a:pPr indent="0" marL="0">
              <a:buNone/>
            </a:pPr>
            <a:r>
              <a:rPr lang="en-US" sz="1400" dirty="0">
                <a:solidFill>
                  <a:schemeClr val="tx2"/>
                </a:solidFill>
              </a:rPr>
              <a:t>Move your hand near, far, left and right</a:t>
            </a:r>
            <a:endParaRPr lang="en-US" sz="1400" dirty="0"/>
          </a:p>
        </p:txBody>
      </p:sp>
      <p:sp>
        <p:nvSpPr>
          <p:cNvPr id="13" name="card-74"/>
          <p:cNvSpPr/>
          <p:nvPr/>
        </p:nvSpPr>
        <p:spPr>
          <a:xfrm>
            <a:off x="457200" y="2834640"/>
            <a:ext cx="4023360" cy="1417320"/>
          </a:xfrm>
          <a:prstGeom prst="roundRect">
            <a:avLst>
              <a:gd name="adj" fmla="val 7742"/>
            </a:avLst>
          </a:prstGeom>
          <a:solidFill>
            <a:schemeClr val="bg2"/>
          </a:solidFill>
          <a:ln/>
        </p:spPr>
      </p:sp>
      <p:sp>
        <p:nvSpPr>
          <p:cNvPr id="14" name="circle-75"/>
          <p:cNvSpPr/>
          <p:nvPr/>
        </p:nvSpPr>
        <p:spPr>
          <a:xfrm>
            <a:off x="685800" y="3108960"/>
            <a:ext cx="868680" cy="868680"/>
          </a:xfrm>
          <a:prstGeom prst="ellipse">
            <a:avLst/>
          </a:prstGeom>
          <a:solidFill>
            <a:schemeClr val="accent4"/>
          </a:solidFill>
          <a:ln/>
        </p:spPr>
      </p:sp>
      <p:pic>
        <p:nvPicPr>
          <p:cNvPr id="15" name="icon-76" descr="preencoded.png">    </p:cNvPr>
          <p:cNvPicPr>
            <a:picLocks noChangeAspect="1"/>
          </p:cNvPicPr>
          <p:nvPr/>
        </p:nvPicPr>
        <p:blipFill>
          <a:blip r:embed="rId3"/>
          <a:stretch>
            <a:fillRect/>
          </a:stretch>
        </p:blipFill>
        <p:spPr>
          <a:xfrm>
            <a:off x="920344" y="3343504"/>
            <a:ext cx="399593" cy="399593"/>
          </a:xfrm>
          <a:prstGeom prst="rect">
            <a:avLst/>
          </a:prstGeom>
        </p:spPr>
      </p:pic>
      <p:sp>
        <p:nvSpPr>
          <p:cNvPr id="16" name="Text 11"/>
          <p:cNvSpPr txBox="1"/>
          <p:nvPr/>
        </p:nvSpPr>
        <p:spPr>
          <a:xfrm>
            <a:off x="1737360" y="3108960"/>
            <a:ext cx="2606040" cy="411480"/>
          </a:xfrm>
          <a:prstGeom prst="rect">
            <a:avLst/>
          </a:prstGeom>
          <a:noFill/>
          <a:ln/>
        </p:spPr>
        <p:txBody>
          <a:bodyPr wrap="square" lIns="0" tIns="0" rIns="0" bIns="0" rtlCol="0" anchor="ctr"/>
          <a:lstStyle/>
          <a:p>
            <a:pPr indent="0" marL="0">
              <a:buNone/>
            </a:pPr>
            <a:r>
              <a:rPr lang="en-US" sz="1800" b="1" dirty="0">
                <a:solidFill>
                  <a:schemeClr val="tx1"/>
                </a:solidFill>
              </a:rPr>
              <a:t>Add "Nothing"</a:t>
            </a:r>
            <a:endParaRPr lang="en-US" sz="1800" dirty="0"/>
          </a:p>
        </p:txBody>
      </p:sp>
      <p:sp>
        <p:nvSpPr>
          <p:cNvPr id="17" name="Text 12"/>
          <p:cNvSpPr txBox="1"/>
          <p:nvPr/>
        </p:nvSpPr>
        <p:spPr>
          <a:xfrm>
            <a:off x="1737360" y="3520440"/>
            <a:ext cx="2606040" cy="594360"/>
          </a:xfrm>
          <a:prstGeom prst="rect">
            <a:avLst/>
          </a:prstGeom>
          <a:noFill/>
          <a:ln/>
        </p:spPr>
        <p:txBody>
          <a:bodyPr wrap="square" lIns="0" tIns="0" rIns="0" bIns="0" rtlCol="0" anchor="t"/>
          <a:lstStyle/>
          <a:p>
            <a:pPr indent="0" marL="0">
              <a:buNone/>
            </a:pPr>
            <a:r>
              <a:rPr lang="en-US" sz="1400" dirty="0">
                <a:solidFill>
                  <a:schemeClr val="tx2"/>
                </a:solidFill>
              </a:rPr>
              <a:t>A class with just the background</a:t>
            </a:r>
            <a:endParaRPr lang="en-US" sz="1400" dirty="0"/>
          </a:p>
        </p:txBody>
      </p:sp>
      <p:sp>
        <p:nvSpPr>
          <p:cNvPr id="18" name="card-77"/>
          <p:cNvSpPr/>
          <p:nvPr/>
        </p:nvSpPr>
        <p:spPr>
          <a:xfrm>
            <a:off x="4663440" y="2834640"/>
            <a:ext cx="4023360" cy="1417320"/>
          </a:xfrm>
          <a:prstGeom prst="roundRect">
            <a:avLst>
              <a:gd name="adj" fmla="val 7742"/>
            </a:avLst>
          </a:prstGeom>
          <a:solidFill>
            <a:schemeClr val="bg2"/>
          </a:solidFill>
          <a:ln/>
        </p:spPr>
      </p:sp>
      <p:sp>
        <p:nvSpPr>
          <p:cNvPr id="19" name="circle-78"/>
          <p:cNvSpPr/>
          <p:nvPr/>
        </p:nvSpPr>
        <p:spPr>
          <a:xfrm>
            <a:off x="4892040" y="3108960"/>
            <a:ext cx="868680" cy="868680"/>
          </a:xfrm>
          <a:prstGeom prst="ellipse">
            <a:avLst/>
          </a:prstGeom>
          <a:solidFill>
            <a:schemeClr val="accent5"/>
          </a:solidFill>
          <a:ln/>
        </p:spPr>
      </p:sp>
      <p:pic>
        <p:nvPicPr>
          <p:cNvPr id="20" name="icon-79" descr="preencoded.png">    </p:cNvPr>
          <p:cNvPicPr>
            <a:picLocks noChangeAspect="1"/>
          </p:cNvPicPr>
          <p:nvPr/>
        </p:nvPicPr>
        <p:blipFill>
          <a:blip r:embed="rId4"/>
          <a:stretch>
            <a:fillRect/>
          </a:stretch>
        </p:blipFill>
        <p:spPr>
          <a:xfrm>
            <a:off x="5126584" y="3343504"/>
            <a:ext cx="399593" cy="399593"/>
          </a:xfrm>
          <a:prstGeom prst="rect">
            <a:avLst/>
          </a:prstGeom>
        </p:spPr>
      </p:pic>
      <p:sp>
        <p:nvSpPr>
          <p:cNvPr id="21" name="Text 15"/>
          <p:cNvSpPr txBox="1"/>
          <p:nvPr/>
        </p:nvSpPr>
        <p:spPr>
          <a:xfrm>
            <a:off x="5943600" y="3108960"/>
            <a:ext cx="2606040" cy="411480"/>
          </a:xfrm>
          <a:prstGeom prst="rect">
            <a:avLst/>
          </a:prstGeom>
          <a:noFill/>
          <a:ln/>
        </p:spPr>
        <p:txBody>
          <a:bodyPr wrap="square" lIns="0" tIns="0" rIns="0" bIns="0" rtlCol="0" anchor="ctr"/>
          <a:lstStyle/>
          <a:p>
            <a:pPr indent="0" marL="0">
              <a:buNone/>
            </a:pPr>
            <a:r>
              <a:rPr lang="en-US" sz="1800" b="1" dirty="0">
                <a:solidFill>
                  <a:schemeClr val="tx1"/>
                </a:solidFill>
              </a:rPr>
              <a:t>Different hands</a:t>
            </a:r>
            <a:endParaRPr lang="en-US" sz="1800" dirty="0"/>
          </a:p>
        </p:txBody>
      </p:sp>
      <p:sp>
        <p:nvSpPr>
          <p:cNvPr id="22" name="Text 16"/>
          <p:cNvSpPr txBox="1"/>
          <p:nvPr/>
        </p:nvSpPr>
        <p:spPr>
          <a:xfrm>
            <a:off x="5943600" y="3520440"/>
            <a:ext cx="2606040" cy="594360"/>
          </a:xfrm>
          <a:prstGeom prst="rect">
            <a:avLst/>
          </a:prstGeom>
          <a:noFill/>
          <a:ln/>
        </p:spPr>
        <p:txBody>
          <a:bodyPr wrap="square" lIns="0" tIns="0" rIns="0" bIns="0" rtlCol="0" anchor="t"/>
          <a:lstStyle/>
          <a:p>
            <a:pPr indent="0" marL="0">
              <a:buNone/>
            </a:pPr>
            <a:r>
              <a:rPr lang="en-US" sz="1400" dirty="0">
                <a:solidFill>
                  <a:schemeClr val="tx2"/>
                </a:solidFill>
              </a:rPr>
              <a:t>Let every group member record</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circle-80"/>
          <p:cNvSpPr/>
          <p:nvPr/>
        </p:nvSpPr>
        <p:spPr>
          <a:xfrm>
            <a:off x="6903720" y="502920"/>
            <a:ext cx="1463040" cy="1463040"/>
          </a:xfrm>
          <a:prstGeom prst="ellipse">
            <a:avLst/>
          </a:prstGeom>
          <a:solidFill>
            <a:schemeClr val="accent2"/>
          </a:solidFill>
          <a:ln/>
        </p:spPr>
      </p:sp>
      <p:pic>
        <p:nvPicPr>
          <p:cNvPr id="3" name="icon-81" descr="preencoded.png">    </p:cNvPr>
          <p:cNvPicPr>
            <a:picLocks noChangeAspect="1"/>
          </p:cNvPicPr>
          <p:nvPr/>
        </p:nvPicPr>
        <p:blipFill>
          <a:blip r:embed="rId1"/>
          <a:stretch>
            <a:fillRect/>
          </a:stretch>
        </p:blipFill>
        <p:spPr>
          <a:xfrm>
            <a:off x="7298741" y="897941"/>
            <a:ext cx="672998" cy="672998"/>
          </a:xfrm>
          <a:prstGeom prst="rect">
            <a:avLst/>
          </a:prstGeom>
        </p:spPr>
      </p:pic>
      <p:sp>
        <p:nvSpPr>
          <p:cNvPr id="4" name="Text 0"/>
          <p:cNvSpPr/>
          <p:nvPr>
            <p:ph idx="100" type="title" hasCustomPrompt="1"/>
          </p:nvPr>
        </p:nvSpPr>
        <p:spPr>
          <a:xfrm>
            <a:off x="548640" y="1417320"/>
            <a:ext cx="8046720" cy="1371600"/>
          </a:xfrm>
          <a:prstGeom prst="rect">
            <a:avLst/>
          </a:prstGeom>
          <a:noFill/>
          <a:ln/>
        </p:spPr>
        <p:txBody>
          <a:bodyPr wrap="square" rtlCol="0" anchor="t"/>
          <a:lstStyle/>
          <a:p>
            <a:pPr algn="l" indent="0" marL="0">
              <a:buNone/>
            </a:pPr>
            <a:r>
              <a:rPr lang="en-US" sz="4400" b="1" dirty="0">
                <a:solidFill>
                  <a:schemeClr val="bg1"/>
                </a:solidFill>
                <a:latin typeface="Arial" pitchFamily="34" charset="0"/>
                <a:ea typeface="Arial" pitchFamily="34" charset="-122"/>
                <a:cs typeface="Arial" pitchFamily="34" charset="-120"/>
              </a:rPr>
              <a:t>Break time!</a:t>
            </a:r>
            <a:endParaRPr lang="en-US" sz="4400" dirty="0"/>
          </a:p>
        </p:txBody>
      </p:sp>
      <p:sp>
        <p:nvSpPr>
          <p:cNvPr id="5" name="Text 0"/>
          <p:cNvSpPr/>
          <p:nvPr>
            <p:ph idx="101" type="body" hasCustomPrompt="1"/>
          </p:nvPr>
        </p:nvSpPr>
        <p:spPr>
          <a:xfrm>
            <a:off x="548640" y="2880360"/>
            <a:ext cx="8046720" cy="914400"/>
          </a:xfrm>
          <a:prstGeom prst="rect">
            <a:avLst/>
          </a:prstGeom>
          <a:noFill/>
          <a:ln/>
        </p:spPr>
        <p:txBody>
          <a:bodyPr wrap="square" rtlCol="0" anchor="t"/>
          <a:lstStyle/>
          <a:p>
            <a:pPr algn="l" indent="0" marL="0">
              <a:buNone/>
            </a:pPr>
            <a:r>
              <a:rPr lang="en-US" sz="2000" dirty="0">
                <a:solidFill>
                  <a:schemeClr val="accent2"/>
                </a:solidFill>
              </a:rPr>
              <a:t>10 minutes · water, snacks, stretch</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Talking to AI: ask good questions</a:t>
            </a:r>
            <a:endParaRPr lang="en-US" sz="3200" dirty="0"/>
          </a:p>
        </p:txBody>
      </p:sp>
      <p:sp>
        <p:nvSpPr>
          <p:cNvPr id="3" name="card-82"/>
          <p:cNvSpPr/>
          <p:nvPr/>
        </p:nvSpPr>
        <p:spPr>
          <a:xfrm>
            <a:off x="457200" y="1234440"/>
            <a:ext cx="3977640" cy="3108960"/>
          </a:xfrm>
          <a:prstGeom prst="roundRect">
            <a:avLst>
              <a:gd name="adj" fmla="val 3529"/>
            </a:avLst>
          </a:prstGeom>
          <a:solidFill>
            <a:schemeClr val="bg2"/>
          </a:solidFill>
          <a:ln/>
        </p:spPr>
      </p:sp>
      <p:sp>
        <p:nvSpPr>
          <p:cNvPr id="4" name="Text 2"/>
          <p:cNvSpPr txBox="1"/>
          <p:nvPr/>
        </p:nvSpPr>
        <p:spPr>
          <a:xfrm>
            <a:off x="685800" y="1371600"/>
            <a:ext cx="3566160" cy="411480"/>
          </a:xfrm>
          <a:prstGeom prst="rect">
            <a:avLst/>
          </a:prstGeom>
          <a:noFill/>
          <a:ln/>
        </p:spPr>
        <p:txBody>
          <a:bodyPr wrap="square" lIns="0" tIns="0" rIns="0" bIns="0" rtlCol="0" anchor="ctr"/>
          <a:lstStyle/>
          <a:p>
            <a:pPr indent="0" marL="0">
              <a:buNone/>
            </a:pPr>
            <a:r>
              <a:rPr lang="en-US" sz="1800" b="1" dirty="0">
                <a:solidFill>
                  <a:schemeClr val="accent5"/>
                </a:solidFill>
              </a:rPr>
              <a:t>Unclear</a:t>
            </a:r>
            <a:endParaRPr lang="en-US" sz="1800" dirty="0"/>
          </a:p>
        </p:txBody>
      </p:sp>
      <p:sp>
        <p:nvSpPr>
          <p:cNvPr id="5" name="Text 3"/>
          <p:cNvSpPr txBox="1"/>
          <p:nvPr/>
        </p:nvSpPr>
        <p:spPr>
          <a:xfrm>
            <a:off x="685800" y="1874520"/>
            <a:ext cx="3566160" cy="548640"/>
          </a:xfrm>
          <a:prstGeom prst="rect">
            <a:avLst/>
          </a:prstGeom>
          <a:noFill/>
          <a:ln/>
        </p:spPr>
        <p:txBody>
          <a:bodyPr wrap="square" lIns="0" tIns="0" rIns="0" bIns="0" rtlCol="0" anchor="ctr"/>
          <a:lstStyle/>
          <a:p>
            <a:pPr indent="0" marL="0">
              <a:buNone/>
            </a:pPr>
            <a:r>
              <a:rPr lang="en-US" sz="1800" dirty="0">
                <a:solidFill>
                  <a:schemeClr val="tx1"/>
                </a:solidFill>
              </a:rPr>
              <a:t>"Tell me about plants"</a:t>
            </a:r>
            <a:endParaRPr lang="en-US" sz="1800" dirty="0"/>
          </a:p>
        </p:txBody>
      </p:sp>
      <p:sp>
        <p:nvSpPr>
          <p:cNvPr id="6" name="Text 4"/>
          <p:cNvSpPr txBox="1"/>
          <p:nvPr/>
        </p:nvSpPr>
        <p:spPr>
          <a:xfrm>
            <a:off x="685800" y="2560320"/>
            <a:ext cx="3566160" cy="1280160"/>
          </a:xfrm>
          <a:prstGeom prst="rect">
            <a:avLst/>
          </a:prstGeom>
          <a:noFill/>
          <a:ln/>
        </p:spPr>
        <p:txBody>
          <a:bodyPr wrap="square" lIns="0" tIns="0" rIns="0" bIns="0" rtlCol="0" anchor="t"/>
          <a:lstStyle/>
          <a:p>
            <a:pPr indent="0" marL="0">
              <a:buNone/>
            </a:pPr>
            <a:r>
              <a:rPr lang="en-US" sz="1400" dirty="0">
                <a:solidFill>
                  <a:schemeClr val="tx2"/>
                </a:solidFill>
              </a:rPr>
              <a:t>Too big. AI doesn't know what you need, so you get a long, boring answer.</a:t>
            </a:r>
            <a:endParaRPr lang="en-US" sz="1400" dirty="0"/>
          </a:p>
        </p:txBody>
      </p:sp>
      <p:sp>
        <p:nvSpPr>
          <p:cNvPr id="7" name="card-83"/>
          <p:cNvSpPr/>
          <p:nvPr/>
        </p:nvSpPr>
        <p:spPr>
          <a:xfrm>
            <a:off x="4709160" y="1234440"/>
            <a:ext cx="3977640" cy="3108960"/>
          </a:xfrm>
          <a:prstGeom prst="roundRect">
            <a:avLst>
              <a:gd name="adj" fmla="val 3529"/>
            </a:avLst>
          </a:prstGeom>
          <a:solidFill>
            <a:schemeClr val="tx1"/>
          </a:solidFill>
          <a:ln/>
        </p:spPr>
      </p:sp>
      <p:sp>
        <p:nvSpPr>
          <p:cNvPr id="8" name="Text 6"/>
          <p:cNvSpPr txBox="1"/>
          <p:nvPr/>
        </p:nvSpPr>
        <p:spPr>
          <a:xfrm>
            <a:off x="4937760" y="1371600"/>
            <a:ext cx="3566160" cy="411480"/>
          </a:xfrm>
          <a:prstGeom prst="rect">
            <a:avLst/>
          </a:prstGeom>
          <a:noFill/>
          <a:ln/>
        </p:spPr>
        <p:txBody>
          <a:bodyPr wrap="square" lIns="0" tIns="0" rIns="0" bIns="0" rtlCol="0" anchor="ctr"/>
          <a:lstStyle/>
          <a:p>
            <a:pPr indent="0" marL="0">
              <a:buNone/>
            </a:pPr>
            <a:r>
              <a:rPr lang="en-US" sz="1800" b="1" dirty="0">
                <a:solidFill>
                  <a:schemeClr val="accent2"/>
                </a:solidFill>
              </a:rPr>
              <a:t>Clear</a:t>
            </a:r>
            <a:endParaRPr lang="en-US" sz="1800" dirty="0"/>
          </a:p>
        </p:txBody>
      </p:sp>
      <p:sp>
        <p:nvSpPr>
          <p:cNvPr id="9" name="Text 7"/>
          <p:cNvSpPr txBox="1"/>
          <p:nvPr/>
        </p:nvSpPr>
        <p:spPr>
          <a:xfrm>
            <a:off x="4937760" y="1874520"/>
            <a:ext cx="3566160" cy="1188720"/>
          </a:xfrm>
          <a:prstGeom prst="rect">
            <a:avLst/>
          </a:prstGeom>
          <a:noFill/>
          <a:ln/>
        </p:spPr>
        <p:txBody>
          <a:bodyPr wrap="square" lIns="0" tIns="0" rIns="0" bIns="0" rtlCol="0" anchor="t"/>
          <a:lstStyle/>
          <a:p>
            <a:pPr indent="0" marL="0">
              <a:buNone/>
            </a:pPr>
            <a:r>
              <a:rPr lang="en-US" sz="1600" dirty="0">
                <a:solidFill>
                  <a:schemeClr val="bg1"/>
                </a:solidFill>
              </a:rPr>
              <a:t>"Explain how plants make food, for a Class 7 student, in 5 short points with a cricket example"</a:t>
            </a:r>
            <a:endParaRPr lang="en-US" sz="1600" dirty="0"/>
          </a:p>
        </p:txBody>
      </p:sp>
      <p:sp>
        <p:nvSpPr>
          <p:cNvPr id="10" name="Text 8"/>
          <p:cNvSpPr txBox="1"/>
          <p:nvPr/>
        </p:nvSpPr>
        <p:spPr>
          <a:xfrm>
            <a:off x="4937760" y="3337560"/>
            <a:ext cx="3566160" cy="548640"/>
          </a:xfrm>
          <a:prstGeom prst="rect">
            <a:avLst/>
          </a:prstGeom>
          <a:noFill/>
          <a:ln/>
        </p:spPr>
        <p:txBody>
          <a:bodyPr wrap="square" lIns="0" tIns="0" rIns="0" bIns="0" rtlCol="0" anchor="t"/>
          <a:lstStyle/>
          <a:p>
            <a:pPr indent="0" marL="0">
              <a:buNone/>
            </a:pPr>
            <a:r>
              <a:rPr lang="en-US" sz="1400" b="1" dirty="0">
                <a:solidFill>
                  <a:schemeClr val="accent2"/>
                </a:solidFill>
              </a:rPr>
              <a:t>Who it's for + what you want + how long</a:t>
            </a:r>
            <a:endParaRPr lang="en-US" sz="14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Prompt challenge: you write, I type</a:t>
            </a:r>
            <a:endParaRPr lang="en-US" sz="3200" dirty="0"/>
          </a:p>
        </p:txBody>
      </p:sp>
      <p:sp>
        <p:nvSpPr>
          <p:cNvPr id="3" name="tag-84"/>
          <p:cNvSpPr/>
          <p:nvPr/>
        </p:nvSpPr>
        <p:spPr>
          <a:xfrm>
            <a:off x="457200" y="1097280"/>
            <a:ext cx="2377440" cy="329184"/>
          </a:xfrm>
          <a:prstGeom prst="roundRect">
            <a:avLst>
              <a:gd name="adj" fmla="val 50000"/>
            </a:avLst>
          </a:prstGeom>
          <a:solidFill>
            <a:schemeClr val="accent1"/>
          </a:solidFill>
          <a:ln/>
        </p:spPr>
      </p:sp>
      <p:sp>
        <p:nvSpPr>
          <p:cNvPr id="4" name="tagtext-85"/>
          <p:cNvSpPr txBox="1"/>
          <p:nvPr/>
        </p:nvSpPr>
        <p:spPr>
          <a:xfrm>
            <a:off x="457200" y="1097280"/>
            <a:ext cx="2377440" cy="329184"/>
          </a:xfrm>
          <a:prstGeom prst="rect">
            <a:avLst/>
          </a:prstGeom>
          <a:noFill/>
          <a:ln/>
        </p:spPr>
        <p:txBody>
          <a:bodyPr wrap="square" lIns="0" tIns="0" rIns="0" bIns="0" rtlCol="0" anchor="ctr"/>
          <a:lstStyle/>
          <a:p>
            <a:pPr algn="ctr" indent="0" marL="0">
              <a:buNone/>
            </a:pPr>
            <a:r>
              <a:rPr lang="en-US" sz="1200" b="1" dirty="0">
                <a:solidFill>
                  <a:schemeClr val="bg1"/>
                </a:solidFill>
              </a:rPr>
              <a:t>10 minutes · whole class</a:t>
            </a:r>
            <a:endParaRPr lang="en-US" sz="1200" dirty="0"/>
          </a:p>
        </p:txBody>
      </p:sp>
      <p:sp>
        <p:nvSpPr>
          <p:cNvPr id="5" name="card-86"/>
          <p:cNvSpPr/>
          <p:nvPr/>
        </p:nvSpPr>
        <p:spPr>
          <a:xfrm>
            <a:off x="457200" y="1600200"/>
            <a:ext cx="2606040" cy="2743200"/>
          </a:xfrm>
          <a:prstGeom prst="roundRect">
            <a:avLst>
              <a:gd name="adj" fmla="val 4211"/>
            </a:avLst>
          </a:prstGeom>
          <a:solidFill>
            <a:schemeClr val="bg1"/>
          </a:solidFill>
          <a:ln/>
        </p:spPr>
      </p:sp>
      <p:pic>
        <p:nvPicPr>
          <p:cNvPr id="6" name="icon-87" descr="preencoded.png">    </p:cNvPr>
          <p:cNvPicPr>
            <a:picLocks noChangeAspect="1"/>
          </p:cNvPicPr>
          <p:nvPr/>
        </p:nvPicPr>
        <p:blipFill>
          <a:blip r:embed="rId1"/>
          <a:stretch>
            <a:fillRect/>
          </a:stretch>
        </p:blipFill>
        <p:spPr>
          <a:xfrm>
            <a:off x="640080" y="1755648"/>
            <a:ext cx="365760" cy="365760"/>
          </a:xfrm>
          <a:prstGeom prst="rect">
            <a:avLst/>
          </a:prstGeom>
        </p:spPr>
      </p:pic>
      <p:sp>
        <p:nvSpPr>
          <p:cNvPr id="7" name="Text 4"/>
          <p:cNvSpPr txBox="1"/>
          <p:nvPr/>
        </p:nvSpPr>
        <p:spPr>
          <a:xfrm>
            <a:off x="1115568" y="1737360"/>
            <a:ext cx="1783080" cy="411480"/>
          </a:xfrm>
          <a:prstGeom prst="rect">
            <a:avLst/>
          </a:prstGeom>
          <a:noFill/>
          <a:ln/>
        </p:spPr>
        <p:txBody>
          <a:bodyPr wrap="square" lIns="0" tIns="0" rIns="0" bIns="0" rtlCol="0" anchor="ctr"/>
          <a:lstStyle/>
          <a:p>
            <a:pPr indent="0" marL="0">
              <a:buNone/>
            </a:pPr>
            <a:r>
              <a:rPr lang="en-US" sz="1700" b="1" dirty="0">
                <a:solidFill>
                  <a:schemeClr val="accent1"/>
                </a:solidFill>
              </a:rPr>
              <a:t>Study helper</a:t>
            </a:r>
            <a:endParaRPr lang="en-US" sz="1700" dirty="0"/>
          </a:p>
        </p:txBody>
      </p:sp>
      <p:sp>
        <p:nvSpPr>
          <p:cNvPr id="8" name="Text 5"/>
          <p:cNvSpPr txBox="1"/>
          <p:nvPr/>
        </p:nvSpPr>
        <p:spPr>
          <a:xfrm>
            <a:off x="640080" y="2240280"/>
            <a:ext cx="2240280" cy="1920240"/>
          </a:xfrm>
          <a:prstGeom prst="rect">
            <a:avLst/>
          </a:prstGeom>
          <a:noFill/>
          <a:ln/>
        </p:spPr>
        <p:txBody>
          <a:bodyPr wrap="square" lIns="0" tIns="0" rIns="0" bIns="0" rtlCol="0" anchor="t"/>
          <a:lstStyle/>
          <a:p>
            <a:pPr indent="0" marL="0">
              <a:buNone/>
            </a:pPr>
            <a:r>
              <a:rPr lang="en-US" sz="1500" dirty="0">
                <a:solidFill>
                  <a:schemeClr val="tx1"/>
                </a:solidFill>
              </a:rPr>
              <a:t>"Make 5 quiz questions on fractions for Class 7, with answers at the end"</a:t>
            </a:r>
            <a:endParaRPr lang="en-US" sz="1500" dirty="0"/>
          </a:p>
        </p:txBody>
      </p:sp>
      <p:sp>
        <p:nvSpPr>
          <p:cNvPr id="9" name="card-88"/>
          <p:cNvSpPr/>
          <p:nvPr/>
        </p:nvSpPr>
        <p:spPr>
          <a:xfrm>
            <a:off x="3246120" y="1600200"/>
            <a:ext cx="2606040" cy="2743200"/>
          </a:xfrm>
          <a:prstGeom prst="roundRect">
            <a:avLst>
              <a:gd name="adj" fmla="val 4211"/>
            </a:avLst>
          </a:prstGeom>
          <a:solidFill>
            <a:schemeClr val="bg1"/>
          </a:solidFill>
          <a:ln/>
        </p:spPr>
      </p:sp>
      <p:pic>
        <p:nvPicPr>
          <p:cNvPr id="10" name="icon-89" descr="preencoded.png">    </p:cNvPr>
          <p:cNvPicPr>
            <a:picLocks noChangeAspect="1"/>
          </p:cNvPicPr>
          <p:nvPr/>
        </p:nvPicPr>
        <p:blipFill>
          <a:blip r:embed="rId2"/>
          <a:stretch>
            <a:fillRect/>
          </a:stretch>
        </p:blipFill>
        <p:spPr>
          <a:xfrm>
            <a:off x="3429000" y="1755648"/>
            <a:ext cx="365760" cy="365760"/>
          </a:xfrm>
          <a:prstGeom prst="rect">
            <a:avLst/>
          </a:prstGeom>
        </p:spPr>
      </p:pic>
      <p:sp>
        <p:nvSpPr>
          <p:cNvPr id="11" name="Text 7"/>
          <p:cNvSpPr txBox="1"/>
          <p:nvPr/>
        </p:nvSpPr>
        <p:spPr>
          <a:xfrm>
            <a:off x="3904488" y="1737360"/>
            <a:ext cx="1783080" cy="411480"/>
          </a:xfrm>
          <a:prstGeom prst="rect">
            <a:avLst/>
          </a:prstGeom>
          <a:noFill/>
          <a:ln/>
        </p:spPr>
        <p:txBody>
          <a:bodyPr wrap="square" lIns="0" tIns="0" rIns="0" bIns="0" rtlCol="0" anchor="ctr"/>
          <a:lstStyle/>
          <a:p>
            <a:pPr indent="0" marL="0">
              <a:buNone/>
            </a:pPr>
            <a:r>
              <a:rPr lang="en-US" sz="1700" b="1" dirty="0">
                <a:solidFill>
                  <a:schemeClr val="accent1"/>
                </a:solidFill>
              </a:rPr>
              <a:t>Creative</a:t>
            </a:r>
            <a:endParaRPr lang="en-US" sz="1700" dirty="0"/>
          </a:p>
        </p:txBody>
      </p:sp>
      <p:sp>
        <p:nvSpPr>
          <p:cNvPr id="12" name="Text 8"/>
          <p:cNvSpPr txBox="1"/>
          <p:nvPr/>
        </p:nvSpPr>
        <p:spPr>
          <a:xfrm>
            <a:off x="3429000" y="2240280"/>
            <a:ext cx="2240280" cy="1920240"/>
          </a:xfrm>
          <a:prstGeom prst="rect">
            <a:avLst/>
          </a:prstGeom>
          <a:noFill/>
          <a:ln/>
        </p:spPr>
        <p:txBody>
          <a:bodyPr wrap="square" lIns="0" tIns="0" rIns="0" bIns="0" rtlCol="0" anchor="t"/>
          <a:lstStyle/>
          <a:p>
            <a:pPr indent="0" marL="0">
              <a:buNone/>
            </a:pPr>
            <a:r>
              <a:rPr lang="en-US" sz="1500" dirty="0">
                <a:solidFill>
                  <a:schemeClr val="tx1"/>
                </a:solidFill>
              </a:rPr>
              <a:t>"Write a 4-line poem about our school's sports day"</a:t>
            </a:r>
            <a:endParaRPr lang="en-US" sz="1500" dirty="0"/>
          </a:p>
        </p:txBody>
      </p:sp>
      <p:sp>
        <p:nvSpPr>
          <p:cNvPr id="13" name="card-90"/>
          <p:cNvSpPr/>
          <p:nvPr/>
        </p:nvSpPr>
        <p:spPr>
          <a:xfrm>
            <a:off x="6035040" y="1600200"/>
            <a:ext cx="2606040" cy="2743200"/>
          </a:xfrm>
          <a:prstGeom prst="roundRect">
            <a:avLst>
              <a:gd name="adj" fmla="val 4211"/>
            </a:avLst>
          </a:prstGeom>
          <a:solidFill>
            <a:schemeClr val="bg1"/>
          </a:solidFill>
          <a:ln/>
        </p:spPr>
      </p:sp>
      <p:pic>
        <p:nvPicPr>
          <p:cNvPr id="14" name="icon-91" descr="preencoded.png">    </p:cNvPr>
          <p:cNvPicPr>
            <a:picLocks noChangeAspect="1"/>
          </p:cNvPicPr>
          <p:nvPr/>
        </p:nvPicPr>
        <p:blipFill>
          <a:blip r:embed="rId3"/>
          <a:stretch>
            <a:fillRect/>
          </a:stretch>
        </p:blipFill>
        <p:spPr>
          <a:xfrm>
            <a:off x="6217920" y="1755648"/>
            <a:ext cx="365760" cy="365760"/>
          </a:xfrm>
          <a:prstGeom prst="rect">
            <a:avLst/>
          </a:prstGeom>
        </p:spPr>
      </p:pic>
      <p:sp>
        <p:nvSpPr>
          <p:cNvPr id="15" name="Text 10"/>
          <p:cNvSpPr txBox="1"/>
          <p:nvPr/>
        </p:nvSpPr>
        <p:spPr>
          <a:xfrm>
            <a:off x="6693408" y="1737360"/>
            <a:ext cx="1783080" cy="411480"/>
          </a:xfrm>
          <a:prstGeom prst="rect">
            <a:avLst/>
          </a:prstGeom>
          <a:noFill/>
          <a:ln/>
        </p:spPr>
        <p:txBody>
          <a:bodyPr wrap="square" lIns="0" tIns="0" rIns="0" bIns="0" rtlCol="0" anchor="ctr"/>
          <a:lstStyle/>
          <a:p>
            <a:pPr indent="0" marL="0">
              <a:buNone/>
            </a:pPr>
            <a:r>
              <a:rPr lang="en-US" sz="1700" b="1" dirty="0">
                <a:solidFill>
                  <a:schemeClr val="accent1"/>
                </a:solidFill>
              </a:rPr>
              <a:t>Curious</a:t>
            </a:r>
            <a:endParaRPr lang="en-US" sz="1700" dirty="0"/>
          </a:p>
        </p:txBody>
      </p:sp>
      <p:sp>
        <p:nvSpPr>
          <p:cNvPr id="16" name="Text 11"/>
          <p:cNvSpPr txBox="1"/>
          <p:nvPr/>
        </p:nvSpPr>
        <p:spPr>
          <a:xfrm>
            <a:off x="6217920" y="2240280"/>
            <a:ext cx="2240280" cy="1920240"/>
          </a:xfrm>
          <a:prstGeom prst="rect">
            <a:avLst/>
          </a:prstGeom>
          <a:noFill/>
          <a:ln/>
        </p:spPr>
        <p:txBody>
          <a:bodyPr wrap="square" lIns="0" tIns="0" rIns="0" bIns="0" rtlCol="0" anchor="t"/>
          <a:lstStyle/>
          <a:p>
            <a:pPr indent="0" marL="0">
              <a:buNone/>
            </a:pPr>
            <a:r>
              <a:rPr lang="en-US" sz="1500" dirty="0">
                <a:solidFill>
                  <a:schemeClr val="tx1"/>
                </a:solidFill>
              </a:rPr>
              <a:t>"Explain why the sky is blue, like I am 11 years old"</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AI can be confidently wrong</a:t>
            </a:r>
            <a:endParaRPr lang="en-US" sz="3200" dirty="0"/>
          </a:p>
        </p:txBody>
      </p:sp>
      <p:sp>
        <p:nvSpPr>
          <p:cNvPr id="3" name="circle-92"/>
          <p:cNvSpPr/>
          <p:nvPr/>
        </p:nvSpPr>
        <p:spPr>
          <a:xfrm>
            <a:off x="548640" y="1371600"/>
            <a:ext cx="1371600" cy="1371600"/>
          </a:xfrm>
          <a:prstGeom prst="ellipse">
            <a:avLst/>
          </a:prstGeom>
          <a:solidFill>
            <a:schemeClr val="accent2"/>
          </a:solidFill>
          <a:ln/>
        </p:spPr>
      </p:sp>
      <p:pic>
        <p:nvPicPr>
          <p:cNvPr id="4" name="icon-93" descr="preencoded.png">    </p:cNvPr>
          <p:cNvPicPr>
            <a:picLocks noChangeAspect="1"/>
          </p:cNvPicPr>
          <p:nvPr/>
        </p:nvPicPr>
        <p:blipFill>
          <a:blip r:embed="rId1"/>
          <a:stretch>
            <a:fillRect/>
          </a:stretch>
        </p:blipFill>
        <p:spPr>
          <a:xfrm>
            <a:off x="918972" y="1741932"/>
            <a:ext cx="630936" cy="630936"/>
          </a:xfrm>
          <a:prstGeom prst="rect">
            <a:avLst/>
          </a:prstGeom>
        </p:spPr>
      </p:pic>
      <p:sp>
        <p:nvSpPr>
          <p:cNvPr id="5" name="Text 2"/>
          <p:cNvSpPr txBox="1"/>
          <p:nvPr/>
        </p:nvSpPr>
        <p:spPr>
          <a:xfrm>
            <a:off x="2194560" y="1325880"/>
            <a:ext cx="6400800" cy="822960"/>
          </a:xfrm>
          <a:prstGeom prst="rect">
            <a:avLst/>
          </a:prstGeom>
          <a:noFill/>
          <a:ln/>
        </p:spPr>
        <p:txBody>
          <a:bodyPr wrap="square" lIns="0" tIns="0" rIns="0" bIns="0" rtlCol="0" anchor="ctr"/>
          <a:lstStyle/>
          <a:p>
            <a:pPr indent="0" marL="0">
              <a:buNone/>
            </a:pPr>
            <a:r>
              <a:rPr lang="en-US" sz="2200" b="1" dirty="0">
                <a:solidFill>
                  <a:schemeClr val="tx1"/>
                </a:solidFill>
              </a:rPr>
              <a:t>AI sometimes makes up facts and sounds very sure about them.</a:t>
            </a:r>
            <a:endParaRPr lang="en-US" sz="2200" dirty="0"/>
          </a:p>
        </p:txBody>
      </p:sp>
      <p:sp>
        <p:nvSpPr>
          <p:cNvPr id="6" name="card-94"/>
          <p:cNvSpPr/>
          <p:nvPr/>
        </p:nvSpPr>
        <p:spPr>
          <a:xfrm>
            <a:off x="2194560" y="2331720"/>
            <a:ext cx="6492240" cy="1965960"/>
          </a:xfrm>
          <a:prstGeom prst="roundRect">
            <a:avLst>
              <a:gd name="adj" fmla="val 5581"/>
            </a:avLst>
          </a:prstGeom>
          <a:solidFill>
            <a:schemeClr val="bg2"/>
          </a:solidFill>
          <a:ln/>
        </p:spPr>
      </p:sp>
      <p:sp>
        <p:nvSpPr>
          <p:cNvPr id="7" name="Text 4"/>
          <p:cNvSpPr txBox="1"/>
          <p:nvPr/>
        </p:nvSpPr>
        <p:spPr>
          <a:xfrm>
            <a:off x="2423160" y="2468880"/>
            <a:ext cx="6035040" cy="411480"/>
          </a:xfrm>
          <a:prstGeom prst="rect">
            <a:avLst/>
          </a:prstGeom>
          <a:noFill/>
          <a:ln/>
        </p:spPr>
        <p:txBody>
          <a:bodyPr wrap="square" lIns="0" tIns="0" rIns="0" bIns="0" rtlCol="0" anchor="ctr"/>
          <a:lstStyle/>
          <a:p>
            <a:pPr indent="0" marL="0">
              <a:buNone/>
            </a:pPr>
            <a:r>
              <a:rPr lang="en-US" sz="1700" b="1" dirty="0">
                <a:solidFill>
                  <a:schemeClr val="accent1"/>
                </a:solidFill>
              </a:rPr>
              <a:t>Always check with:</a:t>
            </a:r>
            <a:endParaRPr lang="en-US" sz="1700" dirty="0"/>
          </a:p>
        </p:txBody>
      </p:sp>
      <p:sp>
        <p:nvSpPr>
          <p:cNvPr id="8" name="Text 5"/>
          <p:cNvSpPr txBox="1"/>
          <p:nvPr/>
        </p:nvSpPr>
        <p:spPr>
          <a:xfrm>
            <a:off x="2423160" y="2880360"/>
            <a:ext cx="6035040" cy="1325880"/>
          </a:xfrm>
          <a:prstGeom prst="rect">
            <a:avLst/>
          </a:prstGeom>
          <a:noFill/>
          <a:ln/>
        </p:spPr>
        <p:txBody>
          <a:bodyPr wrap="square" lIns="0" tIns="0" rIns="0" bIns="0" rtlCol="0" anchor="t"/>
          <a:lstStyle/>
          <a:p>
            <a:pPr marL="342900" indent="-342900">
              <a:spcAft>
                <a:spcPts val="600"/>
              </a:spcAft>
              <a:buSzPct val="100000"/>
              <a:buChar char="•"/>
            </a:pPr>
            <a:r>
              <a:rPr lang="en-US" sz="1700" dirty="0">
                <a:solidFill>
                  <a:schemeClr val="tx1"/>
                </a:solidFill>
              </a:rPr>
              <a:t>Your textbook (NCERT)</a:t>
            </a:r>
            <a:endParaRPr lang="en-US" sz="1700" dirty="0"/>
          </a:p>
          <a:p>
            <a:pPr marL="342900" indent="-342900">
              <a:spcAft>
                <a:spcPts val="600"/>
              </a:spcAft>
              <a:buSzPct val="100000"/>
              <a:buChar char="•"/>
            </a:pPr>
            <a:r>
              <a:rPr lang="en-US" sz="1700" dirty="0">
                <a:solidFill>
                  <a:schemeClr val="tx1"/>
                </a:solidFill>
              </a:rPr>
              <a:t>Your teacher or parents</a:t>
            </a:r>
            <a:endParaRPr lang="en-US" sz="1700" dirty="0"/>
          </a:p>
          <a:p>
            <a:pPr marL="342900" indent="-342900">
              <a:spcAft>
                <a:spcPts val="600"/>
              </a:spcAft>
              <a:buSzPct val="100000"/>
              <a:buChar char="•"/>
            </a:pPr>
            <a:r>
              <a:rPr lang="en-US" sz="1700" dirty="0">
                <a:solidFill>
                  <a:schemeClr val="tx1"/>
                </a:solidFill>
              </a:rPr>
              <a:t>A trusted website</a:t>
            </a:r>
            <a:endParaRPr lang="en-US" sz="17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Real or fake? Spot the AI picture</a:t>
            </a:r>
            <a:endParaRPr lang="en-US" sz="3200" dirty="0"/>
          </a:p>
        </p:txBody>
      </p:sp>
      <p:sp>
        <p:nvSpPr>
          <p:cNvPr id="3" name="card-95"/>
          <p:cNvSpPr/>
          <p:nvPr/>
        </p:nvSpPr>
        <p:spPr>
          <a:xfrm>
            <a:off x="457200" y="1188720"/>
            <a:ext cx="4023360" cy="1280160"/>
          </a:xfrm>
          <a:prstGeom prst="roundRect">
            <a:avLst>
              <a:gd name="adj" fmla="val 8571"/>
            </a:avLst>
          </a:prstGeom>
          <a:solidFill>
            <a:schemeClr val="bg1"/>
          </a:solidFill>
          <a:ln/>
        </p:spPr>
      </p:sp>
      <p:pic>
        <p:nvPicPr>
          <p:cNvPr id="4" name="icon-96" descr="preencoded.png">    </p:cNvPr>
          <p:cNvPicPr>
            <a:picLocks noChangeAspect="1"/>
          </p:cNvPicPr>
          <p:nvPr/>
        </p:nvPicPr>
        <p:blipFill>
          <a:blip r:embed="rId1"/>
          <a:stretch>
            <a:fillRect/>
          </a:stretch>
        </p:blipFill>
        <p:spPr>
          <a:xfrm>
            <a:off x="731520" y="1508760"/>
            <a:ext cx="594360" cy="594360"/>
          </a:xfrm>
          <a:prstGeom prst="rect">
            <a:avLst/>
          </a:prstGeom>
        </p:spPr>
      </p:pic>
      <p:sp>
        <p:nvSpPr>
          <p:cNvPr id="5" name="Text 2"/>
          <p:cNvSpPr txBox="1"/>
          <p:nvPr/>
        </p:nvSpPr>
        <p:spPr>
          <a:xfrm>
            <a:off x="1554480" y="141732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Hands and fingers</a:t>
            </a:r>
            <a:endParaRPr lang="en-US" sz="1700" dirty="0"/>
          </a:p>
        </p:txBody>
      </p:sp>
      <p:sp>
        <p:nvSpPr>
          <p:cNvPr id="6" name="Text 3"/>
          <p:cNvSpPr txBox="1"/>
          <p:nvPr/>
        </p:nvSpPr>
        <p:spPr>
          <a:xfrm>
            <a:off x="1554480" y="1847088"/>
            <a:ext cx="2743200" cy="457200"/>
          </a:xfrm>
          <a:prstGeom prst="rect">
            <a:avLst/>
          </a:prstGeom>
          <a:noFill/>
          <a:ln/>
        </p:spPr>
        <p:txBody>
          <a:bodyPr wrap="square" lIns="0" tIns="0" rIns="0" bIns="0" rtlCol="0" anchor="ctr"/>
          <a:lstStyle/>
          <a:p>
            <a:pPr indent="0" marL="0">
              <a:buNone/>
            </a:pPr>
            <a:r>
              <a:rPr lang="en-US" sz="1400" dirty="0">
                <a:solidFill>
                  <a:schemeClr val="tx2"/>
                </a:solidFill>
              </a:rPr>
              <a:t>Extra, missing or bent fingers</a:t>
            </a:r>
            <a:endParaRPr lang="en-US" sz="1400" dirty="0"/>
          </a:p>
        </p:txBody>
      </p:sp>
      <p:sp>
        <p:nvSpPr>
          <p:cNvPr id="7" name="card-97"/>
          <p:cNvSpPr/>
          <p:nvPr/>
        </p:nvSpPr>
        <p:spPr>
          <a:xfrm>
            <a:off x="4663440" y="1188720"/>
            <a:ext cx="4023360" cy="1280160"/>
          </a:xfrm>
          <a:prstGeom prst="roundRect">
            <a:avLst>
              <a:gd name="adj" fmla="val 8571"/>
            </a:avLst>
          </a:prstGeom>
          <a:solidFill>
            <a:schemeClr val="bg1"/>
          </a:solidFill>
          <a:ln/>
        </p:spPr>
      </p:sp>
      <p:pic>
        <p:nvPicPr>
          <p:cNvPr id="8" name="icon-98" descr="preencoded.png">    </p:cNvPr>
          <p:cNvPicPr>
            <a:picLocks noChangeAspect="1"/>
          </p:cNvPicPr>
          <p:nvPr/>
        </p:nvPicPr>
        <p:blipFill>
          <a:blip r:embed="rId2"/>
          <a:stretch>
            <a:fillRect/>
          </a:stretch>
        </p:blipFill>
        <p:spPr>
          <a:xfrm>
            <a:off x="4937760" y="1508760"/>
            <a:ext cx="594360" cy="594360"/>
          </a:xfrm>
          <a:prstGeom prst="rect">
            <a:avLst/>
          </a:prstGeom>
        </p:spPr>
      </p:pic>
      <p:sp>
        <p:nvSpPr>
          <p:cNvPr id="9" name="Text 5"/>
          <p:cNvSpPr txBox="1"/>
          <p:nvPr/>
        </p:nvSpPr>
        <p:spPr>
          <a:xfrm>
            <a:off x="5760720" y="141732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Text in the picture</a:t>
            </a:r>
            <a:endParaRPr lang="en-US" sz="1700" dirty="0"/>
          </a:p>
        </p:txBody>
      </p:sp>
      <p:sp>
        <p:nvSpPr>
          <p:cNvPr id="10" name="Text 6"/>
          <p:cNvSpPr txBox="1"/>
          <p:nvPr/>
        </p:nvSpPr>
        <p:spPr>
          <a:xfrm>
            <a:off x="5760720" y="1847088"/>
            <a:ext cx="2743200" cy="457200"/>
          </a:xfrm>
          <a:prstGeom prst="rect">
            <a:avLst/>
          </a:prstGeom>
          <a:noFill/>
          <a:ln/>
        </p:spPr>
        <p:txBody>
          <a:bodyPr wrap="square" lIns="0" tIns="0" rIns="0" bIns="0" rtlCol="0" anchor="ctr"/>
          <a:lstStyle/>
          <a:p>
            <a:pPr indent="0" marL="0">
              <a:buNone/>
            </a:pPr>
            <a:r>
              <a:rPr lang="en-US" sz="1400" dirty="0">
                <a:solidFill>
                  <a:schemeClr val="tx2"/>
                </a:solidFill>
              </a:rPr>
              <a:t>Jumbled or nonsense letters</a:t>
            </a:r>
            <a:endParaRPr lang="en-US" sz="1400" dirty="0"/>
          </a:p>
        </p:txBody>
      </p:sp>
      <p:sp>
        <p:nvSpPr>
          <p:cNvPr id="11" name="card-99"/>
          <p:cNvSpPr/>
          <p:nvPr/>
        </p:nvSpPr>
        <p:spPr>
          <a:xfrm>
            <a:off x="457200" y="2651760"/>
            <a:ext cx="4023360" cy="1280160"/>
          </a:xfrm>
          <a:prstGeom prst="roundRect">
            <a:avLst>
              <a:gd name="adj" fmla="val 8571"/>
            </a:avLst>
          </a:prstGeom>
          <a:solidFill>
            <a:schemeClr val="bg1"/>
          </a:solidFill>
          <a:ln/>
        </p:spPr>
      </p:sp>
      <p:pic>
        <p:nvPicPr>
          <p:cNvPr id="12" name="icon-100" descr="preencoded.png">    </p:cNvPr>
          <p:cNvPicPr>
            <a:picLocks noChangeAspect="1"/>
          </p:cNvPicPr>
          <p:nvPr/>
        </p:nvPicPr>
        <p:blipFill>
          <a:blip r:embed="rId3"/>
          <a:stretch>
            <a:fillRect/>
          </a:stretch>
        </p:blipFill>
        <p:spPr>
          <a:xfrm>
            <a:off x="731520" y="2971800"/>
            <a:ext cx="594360" cy="594360"/>
          </a:xfrm>
          <a:prstGeom prst="rect">
            <a:avLst/>
          </a:prstGeom>
        </p:spPr>
      </p:pic>
      <p:sp>
        <p:nvSpPr>
          <p:cNvPr id="13" name="Text 8"/>
          <p:cNvSpPr txBox="1"/>
          <p:nvPr/>
        </p:nvSpPr>
        <p:spPr>
          <a:xfrm>
            <a:off x="1554480" y="288036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Light and shadows</a:t>
            </a:r>
            <a:endParaRPr lang="en-US" sz="1700" dirty="0"/>
          </a:p>
        </p:txBody>
      </p:sp>
      <p:sp>
        <p:nvSpPr>
          <p:cNvPr id="14" name="Text 9"/>
          <p:cNvSpPr txBox="1"/>
          <p:nvPr/>
        </p:nvSpPr>
        <p:spPr>
          <a:xfrm>
            <a:off x="1554480" y="3310128"/>
            <a:ext cx="2743200" cy="457200"/>
          </a:xfrm>
          <a:prstGeom prst="rect">
            <a:avLst/>
          </a:prstGeom>
          <a:noFill/>
          <a:ln/>
        </p:spPr>
        <p:txBody>
          <a:bodyPr wrap="square" lIns="0" tIns="0" rIns="0" bIns="0" rtlCol="0" anchor="ctr"/>
          <a:lstStyle/>
          <a:p>
            <a:pPr indent="0" marL="0">
              <a:buNone/>
            </a:pPr>
            <a:r>
              <a:rPr lang="en-US" sz="1400" dirty="0">
                <a:solidFill>
                  <a:schemeClr val="tx2"/>
                </a:solidFill>
              </a:rPr>
              <a:t>Shadows going the wrong way</a:t>
            </a:r>
            <a:endParaRPr lang="en-US" sz="1400" dirty="0"/>
          </a:p>
        </p:txBody>
      </p:sp>
      <p:sp>
        <p:nvSpPr>
          <p:cNvPr id="15" name="card-101"/>
          <p:cNvSpPr/>
          <p:nvPr/>
        </p:nvSpPr>
        <p:spPr>
          <a:xfrm>
            <a:off x="4663440" y="2651760"/>
            <a:ext cx="4023360" cy="1280160"/>
          </a:xfrm>
          <a:prstGeom prst="roundRect">
            <a:avLst>
              <a:gd name="adj" fmla="val 8571"/>
            </a:avLst>
          </a:prstGeom>
          <a:solidFill>
            <a:schemeClr val="bg1"/>
          </a:solidFill>
          <a:ln/>
        </p:spPr>
      </p:sp>
      <p:pic>
        <p:nvPicPr>
          <p:cNvPr id="16" name="icon-102" descr="preencoded.png">    </p:cNvPr>
          <p:cNvPicPr>
            <a:picLocks noChangeAspect="1"/>
          </p:cNvPicPr>
          <p:nvPr/>
        </p:nvPicPr>
        <p:blipFill>
          <a:blip r:embed="rId4"/>
          <a:stretch>
            <a:fillRect/>
          </a:stretch>
        </p:blipFill>
        <p:spPr>
          <a:xfrm>
            <a:off x="4937760" y="2971800"/>
            <a:ext cx="594360" cy="594360"/>
          </a:xfrm>
          <a:prstGeom prst="rect">
            <a:avLst/>
          </a:prstGeom>
        </p:spPr>
      </p:pic>
      <p:sp>
        <p:nvSpPr>
          <p:cNvPr id="17" name="Text 11"/>
          <p:cNvSpPr txBox="1"/>
          <p:nvPr/>
        </p:nvSpPr>
        <p:spPr>
          <a:xfrm>
            <a:off x="5760720" y="2880360"/>
            <a:ext cx="2743200" cy="411480"/>
          </a:xfrm>
          <a:prstGeom prst="rect">
            <a:avLst/>
          </a:prstGeom>
          <a:noFill/>
          <a:ln/>
        </p:spPr>
        <p:txBody>
          <a:bodyPr wrap="square" lIns="0" tIns="0" rIns="0" bIns="0" rtlCol="0" anchor="ctr"/>
          <a:lstStyle/>
          <a:p>
            <a:pPr indent="0" marL="0">
              <a:buNone/>
            </a:pPr>
            <a:r>
              <a:rPr lang="en-US" sz="1700" b="1" dirty="0">
                <a:solidFill>
                  <a:schemeClr val="tx1"/>
                </a:solidFill>
              </a:rPr>
              <a:t>Too perfect</a:t>
            </a:r>
            <a:endParaRPr lang="en-US" sz="1700" dirty="0"/>
          </a:p>
        </p:txBody>
      </p:sp>
      <p:sp>
        <p:nvSpPr>
          <p:cNvPr id="18" name="Text 12"/>
          <p:cNvSpPr txBox="1"/>
          <p:nvPr/>
        </p:nvSpPr>
        <p:spPr>
          <a:xfrm>
            <a:off x="5760720" y="3310128"/>
            <a:ext cx="2743200" cy="457200"/>
          </a:xfrm>
          <a:prstGeom prst="rect">
            <a:avLst/>
          </a:prstGeom>
          <a:noFill/>
          <a:ln/>
        </p:spPr>
        <p:txBody>
          <a:bodyPr wrap="square" lIns="0" tIns="0" rIns="0" bIns="0" rtlCol="0" anchor="ctr"/>
          <a:lstStyle/>
          <a:p>
            <a:pPr indent="0" marL="0">
              <a:buNone/>
            </a:pPr>
            <a:r>
              <a:rPr lang="en-US" sz="1400" dirty="0">
                <a:solidFill>
                  <a:schemeClr val="tx2"/>
                </a:solidFill>
              </a:rPr>
              <a:t>Skin and hair look plastic</a:t>
            </a:r>
            <a:endParaRPr lang="en-US" sz="1400" dirty="0"/>
          </a:p>
        </p:txBody>
      </p:sp>
      <p:sp>
        <p:nvSpPr>
          <p:cNvPr id="19" name="Text 13"/>
          <p:cNvSpPr txBox="1"/>
          <p:nvPr/>
        </p:nvSpPr>
        <p:spPr>
          <a:xfrm>
            <a:off x="457200" y="4160520"/>
            <a:ext cx="8229600" cy="411480"/>
          </a:xfrm>
          <a:prstGeom prst="rect">
            <a:avLst/>
          </a:prstGeom>
          <a:noFill/>
          <a:ln/>
        </p:spPr>
        <p:txBody>
          <a:bodyPr wrap="square" lIns="0" tIns="0" rIns="0" bIns="0" rtlCol="0" anchor="ctr"/>
          <a:lstStyle/>
          <a:p>
            <a:pPr indent="0" marL="0">
              <a:buNone/>
            </a:pPr>
            <a:r>
              <a:rPr lang="en-US" sz="1500" b="1" dirty="0">
                <a:solidFill>
                  <a:schemeClr val="accent1"/>
                </a:solidFill>
              </a:rPr>
              <a:t>Never make fake pictures or videos of real people. It can hurt them.</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5 golden rules of AI</a:t>
            </a:r>
            <a:endParaRPr lang="en-US" sz="3200" dirty="0"/>
          </a:p>
        </p:txBody>
      </p:sp>
      <p:sp>
        <p:nvSpPr>
          <p:cNvPr id="3" name="circle-103"/>
          <p:cNvSpPr/>
          <p:nvPr/>
        </p:nvSpPr>
        <p:spPr>
          <a:xfrm>
            <a:off x="548640" y="1143000"/>
            <a:ext cx="548640" cy="548640"/>
          </a:xfrm>
          <a:prstGeom prst="ellipse">
            <a:avLst/>
          </a:prstGeom>
          <a:solidFill>
            <a:schemeClr val="accent1"/>
          </a:solidFill>
          <a:ln/>
        </p:spPr>
      </p:sp>
      <p:pic>
        <p:nvPicPr>
          <p:cNvPr id="4" name="icon-104" descr="preencoded.png">    </p:cNvPr>
          <p:cNvPicPr>
            <a:picLocks noChangeAspect="1"/>
          </p:cNvPicPr>
          <p:nvPr/>
        </p:nvPicPr>
        <p:blipFill>
          <a:blip r:embed="rId1"/>
          <a:stretch>
            <a:fillRect/>
          </a:stretch>
        </p:blipFill>
        <p:spPr>
          <a:xfrm>
            <a:off x="696773" y="1291133"/>
            <a:ext cx="252374" cy="252374"/>
          </a:xfrm>
          <a:prstGeom prst="rect">
            <a:avLst/>
          </a:prstGeom>
        </p:spPr>
      </p:pic>
      <p:sp>
        <p:nvSpPr>
          <p:cNvPr id="5" name="Text 2"/>
          <p:cNvSpPr txBox="1"/>
          <p:nvPr/>
        </p:nvSpPr>
        <p:spPr>
          <a:xfrm>
            <a:off x="1280160" y="1143000"/>
            <a:ext cx="7315200" cy="548640"/>
          </a:xfrm>
          <a:prstGeom prst="rect">
            <a:avLst/>
          </a:prstGeom>
          <a:noFill/>
          <a:ln/>
        </p:spPr>
        <p:txBody>
          <a:bodyPr wrap="square" lIns="0" tIns="0" rIns="0" bIns="0" rtlCol="0" anchor="ctr"/>
          <a:lstStyle/>
          <a:p>
            <a:pPr indent="0" marL="0">
              <a:buNone/>
            </a:pPr>
            <a:r>
              <a:rPr lang="en-US" sz="1800" dirty="0">
                <a:solidFill>
                  <a:schemeClr val="tx1"/>
                </a:solidFill>
              </a:rPr>
              <a:t>Never share your name, address, phone or photos with AI</a:t>
            </a:r>
            <a:endParaRPr lang="en-US" sz="1800" dirty="0"/>
          </a:p>
        </p:txBody>
      </p:sp>
      <p:sp>
        <p:nvSpPr>
          <p:cNvPr id="6" name="circle-105"/>
          <p:cNvSpPr/>
          <p:nvPr/>
        </p:nvSpPr>
        <p:spPr>
          <a:xfrm>
            <a:off x="548640" y="1828800"/>
            <a:ext cx="548640" cy="548640"/>
          </a:xfrm>
          <a:prstGeom prst="ellipse">
            <a:avLst/>
          </a:prstGeom>
          <a:solidFill>
            <a:schemeClr val="accent3"/>
          </a:solidFill>
          <a:ln/>
        </p:spPr>
      </p:sp>
      <p:pic>
        <p:nvPicPr>
          <p:cNvPr id="7" name="icon-106" descr="preencoded.png">    </p:cNvPr>
          <p:cNvPicPr>
            <a:picLocks noChangeAspect="1"/>
          </p:cNvPicPr>
          <p:nvPr/>
        </p:nvPicPr>
        <p:blipFill>
          <a:blip r:embed="rId2"/>
          <a:stretch>
            <a:fillRect/>
          </a:stretch>
        </p:blipFill>
        <p:spPr>
          <a:xfrm>
            <a:off x="696773" y="1976933"/>
            <a:ext cx="252374" cy="252374"/>
          </a:xfrm>
          <a:prstGeom prst="rect">
            <a:avLst/>
          </a:prstGeom>
        </p:spPr>
      </p:pic>
      <p:sp>
        <p:nvSpPr>
          <p:cNvPr id="8" name="Text 4"/>
          <p:cNvSpPr txBox="1"/>
          <p:nvPr/>
        </p:nvSpPr>
        <p:spPr>
          <a:xfrm>
            <a:off x="1280160" y="1828800"/>
            <a:ext cx="7315200" cy="548640"/>
          </a:xfrm>
          <a:prstGeom prst="rect">
            <a:avLst/>
          </a:prstGeom>
          <a:noFill/>
          <a:ln/>
        </p:spPr>
        <p:txBody>
          <a:bodyPr wrap="square" lIns="0" tIns="0" rIns="0" bIns="0" rtlCol="0" anchor="ctr"/>
          <a:lstStyle/>
          <a:p>
            <a:pPr indent="0" marL="0">
              <a:buNone/>
            </a:pPr>
            <a:r>
              <a:rPr lang="en-US" sz="1800" dirty="0">
                <a:solidFill>
                  <a:schemeClr val="tx1"/>
                </a:solidFill>
              </a:rPr>
              <a:t>Check important facts before you believe them</a:t>
            </a:r>
            <a:endParaRPr lang="en-US" sz="1800" dirty="0"/>
          </a:p>
        </p:txBody>
      </p:sp>
      <p:sp>
        <p:nvSpPr>
          <p:cNvPr id="9" name="circle-107"/>
          <p:cNvSpPr/>
          <p:nvPr/>
        </p:nvSpPr>
        <p:spPr>
          <a:xfrm>
            <a:off x="548640" y="2514600"/>
            <a:ext cx="548640" cy="548640"/>
          </a:xfrm>
          <a:prstGeom prst="ellipse">
            <a:avLst/>
          </a:prstGeom>
          <a:solidFill>
            <a:schemeClr val="accent4"/>
          </a:solidFill>
          <a:ln/>
        </p:spPr>
      </p:sp>
      <p:pic>
        <p:nvPicPr>
          <p:cNvPr id="10" name="icon-108" descr="preencoded.png">    </p:cNvPr>
          <p:cNvPicPr>
            <a:picLocks noChangeAspect="1"/>
          </p:cNvPicPr>
          <p:nvPr/>
        </p:nvPicPr>
        <p:blipFill>
          <a:blip r:embed="rId3"/>
          <a:stretch>
            <a:fillRect/>
          </a:stretch>
        </p:blipFill>
        <p:spPr>
          <a:xfrm>
            <a:off x="696773" y="2662733"/>
            <a:ext cx="252374" cy="252374"/>
          </a:xfrm>
          <a:prstGeom prst="rect">
            <a:avLst/>
          </a:prstGeom>
        </p:spPr>
      </p:pic>
      <p:sp>
        <p:nvSpPr>
          <p:cNvPr id="11" name="Text 6"/>
          <p:cNvSpPr txBox="1"/>
          <p:nvPr/>
        </p:nvSpPr>
        <p:spPr>
          <a:xfrm>
            <a:off x="1280160" y="2514600"/>
            <a:ext cx="7315200" cy="548640"/>
          </a:xfrm>
          <a:prstGeom prst="rect">
            <a:avLst/>
          </a:prstGeom>
          <a:noFill/>
          <a:ln/>
        </p:spPr>
        <p:txBody>
          <a:bodyPr wrap="square" lIns="0" tIns="0" rIns="0" bIns="0" rtlCol="0" anchor="ctr"/>
          <a:lstStyle/>
          <a:p>
            <a:pPr indent="0" marL="0">
              <a:buNone/>
            </a:pPr>
            <a:r>
              <a:rPr lang="en-US" sz="1800" dirty="0">
                <a:solidFill>
                  <a:schemeClr val="tx1"/>
                </a:solidFill>
              </a:rPr>
              <a:t>Use AI to learn and practise, not to copy homework</a:t>
            </a:r>
            <a:endParaRPr lang="en-US" sz="1800" dirty="0"/>
          </a:p>
        </p:txBody>
      </p:sp>
      <p:sp>
        <p:nvSpPr>
          <p:cNvPr id="12" name="circle-109"/>
          <p:cNvSpPr/>
          <p:nvPr/>
        </p:nvSpPr>
        <p:spPr>
          <a:xfrm>
            <a:off x="548640" y="3200400"/>
            <a:ext cx="548640" cy="548640"/>
          </a:xfrm>
          <a:prstGeom prst="ellipse">
            <a:avLst/>
          </a:prstGeom>
          <a:solidFill>
            <a:schemeClr val="accent2"/>
          </a:solidFill>
          <a:ln/>
        </p:spPr>
      </p:sp>
      <p:pic>
        <p:nvPicPr>
          <p:cNvPr id="13" name="icon-110" descr="preencoded.png">    </p:cNvPr>
          <p:cNvPicPr>
            <a:picLocks noChangeAspect="1"/>
          </p:cNvPicPr>
          <p:nvPr/>
        </p:nvPicPr>
        <p:blipFill>
          <a:blip r:embed="rId4"/>
          <a:stretch>
            <a:fillRect/>
          </a:stretch>
        </p:blipFill>
        <p:spPr>
          <a:xfrm>
            <a:off x="696773" y="3348533"/>
            <a:ext cx="252374" cy="252374"/>
          </a:xfrm>
          <a:prstGeom prst="rect">
            <a:avLst/>
          </a:prstGeom>
        </p:spPr>
      </p:pic>
      <p:sp>
        <p:nvSpPr>
          <p:cNvPr id="14" name="Text 8"/>
          <p:cNvSpPr txBox="1"/>
          <p:nvPr/>
        </p:nvSpPr>
        <p:spPr>
          <a:xfrm>
            <a:off x="1280160" y="3200400"/>
            <a:ext cx="7315200" cy="548640"/>
          </a:xfrm>
          <a:prstGeom prst="rect">
            <a:avLst/>
          </a:prstGeom>
          <a:noFill/>
          <a:ln/>
        </p:spPr>
        <p:txBody>
          <a:bodyPr wrap="square" lIns="0" tIns="0" rIns="0" bIns="0" rtlCol="0" anchor="ctr"/>
          <a:lstStyle/>
          <a:p>
            <a:pPr indent="0" marL="0">
              <a:buNone/>
            </a:pPr>
            <a:r>
              <a:rPr lang="en-US" sz="1800" dirty="0">
                <a:solidFill>
                  <a:schemeClr val="tx1"/>
                </a:solidFill>
              </a:rPr>
              <a:t>Ask a parent or teacher before using a new AI app</a:t>
            </a:r>
            <a:endParaRPr lang="en-US" sz="1800" dirty="0"/>
          </a:p>
        </p:txBody>
      </p:sp>
      <p:sp>
        <p:nvSpPr>
          <p:cNvPr id="15" name="circle-111"/>
          <p:cNvSpPr/>
          <p:nvPr/>
        </p:nvSpPr>
        <p:spPr>
          <a:xfrm>
            <a:off x="548640" y="3886200"/>
            <a:ext cx="548640" cy="548640"/>
          </a:xfrm>
          <a:prstGeom prst="ellipse">
            <a:avLst/>
          </a:prstGeom>
          <a:solidFill>
            <a:schemeClr val="accent5"/>
          </a:solidFill>
          <a:ln/>
        </p:spPr>
      </p:sp>
      <p:pic>
        <p:nvPicPr>
          <p:cNvPr id="16" name="icon-112" descr="preencoded.png">    </p:cNvPr>
          <p:cNvPicPr>
            <a:picLocks noChangeAspect="1"/>
          </p:cNvPicPr>
          <p:nvPr/>
        </p:nvPicPr>
        <p:blipFill>
          <a:blip r:embed="rId5"/>
          <a:stretch>
            <a:fillRect/>
          </a:stretch>
        </p:blipFill>
        <p:spPr>
          <a:xfrm>
            <a:off x="696773" y="4034333"/>
            <a:ext cx="252374" cy="252374"/>
          </a:xfrm>
          <a:prstGeom prst="rect">
            <a:avLst/>
          </a:prstGeom>
        </p:spPr>
      </p:pic>
      <p:sp>
        <p:nvSpPr>
          <p:cNvPr id="17" name="Text 10"/>
          <p:cNvSpPr txBox="1"/>
          <p:nvPr/>
        </p:nvSpPr>
        <p:spPr>
          <a:xfrm>
            <a:off x="1280160" y="3886200"/>
            <a:ext cx="7315200" cy="548640"/>
          </a:xfrm>
          <a:prstGeom prst="rect">
            <a:avLst/>
          </a:prstGeom>
          <a:noFill/>
          <a:ln/>
        </p:spPr>
        <p:txBody>
          <a:bodyPr wrap="square" lIns="0" tIns="0" rIns="0" bIns="0" rtlCol="0" anchor="ctr"/>
          <a:lstStyle/>
          <a:p>
            <a:pPr indent="0" marL="0">
              <a:buNone/>
            </a:pPr>
            <a:r>
              <a:rPr lang="en-US" sz="1800" dirty="0">
                <a:solidFill>
                  <a:schemeClr val="tx1"/>
                </a:solidFill>
              </a:rPr>
              <a:t>Be kind: no fake pictures or mean content about anyone</a:t>
            </a:r>
            <a:endParaRPr lang="en-US" sz="18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circle-113"/>
          <p:cNvSpPr/>
          <p:nvPr/>
        </p:nvSpPr>
        <p:spPr>
          <a:xfrm>
            <a:off x="6903720" y="502920"/>
            <a:ext cx="1463040" cy="1463040"/>
          </a:xfrm>
          <a:prstGeom prst="ellipse">
            <a:avLst/>
          </a:prstGeom>
          <a:solidFill>
            <a:schemeClr val="accent3"/>
          </a:solidFill>
          <a:ln/>
        </p:spPr>
      </p:sp>
      <p:pic>
        <p:nvPicPr>
          <p:cNvPr id="3" name="icon-114" descr="preencoded.png">    </p:cNvPr>
          <p:cNvPicPr>
            <a:picLocks noChangeAspect="1"/>
          </p:cNvPicPr>
          <p:nvPr/>
        </p:nvPicPr>
        <p:blipFill>
          <a:blip r:embed="rId1"/>
          <a:stretch>
            <a:fillRect/>
          </a:stretch>
        </p:blipFill>
        <p:spPr>
          <a:xfrm>
            <a:off x="7298741" y="897941"/>
            <a:ext cx="672998" cy="672998"/>
          </a:xfrm>
          <a:prstGeom prst="rect">
            <a:avLst/>
          </a:prstGeom>
        </p:spPr>
      </p:pic>
      <p:sp>
        <p:nvSpPr>
          <p:cNvPr id="4" name="Text 0"/>
          <p:cNvSpPr/>
          <p:nvPr>
            <p:ph idx="100" type="title" hasCustomPrompt="1"/>
          </p:nvPr>
        </p:nvSpPr>
        <p:spPr>
          <a:xfrm>
            <a:off x="548640" y="1417320"/>
            <a:ext cx="8046720" cy="1371600"/>
          </a:xfrm>
          <a:prstGeom prst="rect">
            <a:avLst/>
          </a:prstGeom>
          <a:noFill/>
          <a:ln/>
        </p:spPr>
        <p:txBody>
          <a:bodyPr wrap="square" rtlCol="0" anchor="t"/>
          <a:lstStyle/>
          <a:p>
            <a:pPr algn="l" indent="0" marL="0">
              <a:buNone/>
            </a:pPr>
            <a:r>
              <a:rPr lang="en-US" sz="4400" b="1" dirty="0">
                <a:solidFill>
                  <a:schemeClr val="bg1"/>
                </a:solidFill>
                <a:latin typeface="Arial" pitchFamily="34" charset="0"/>
                <a:ea typeface="Arial" pitchFamily="34" charset="-122"/>
                <a:cs typeface="Arial" pitchFamily="34" charset="-120"/>
              </a:rPr>
              <a:t>My AI pledge</a:t>
            </a:r>
            <a:endParaRPr lang="en-US" sz="4400" dirty="0"/>
          </a:p>
        </p:txBody>
      </p:sp>
      <p:sp>
        <p:nvSpPr>
          <p:cNvPr id="5" name="Text 0"/>
          <p:cNvSpPr/>
          <p:nvPr>
            <p:ph idx="101" type="body" hasCustomPrompt="1"/>
          </p:nvPr>
        </p:nvSpPr>
        <p:spPr>
          <a:xfrm>
            <a:off x="548640" y="2880360"/>
            <a:ext cx="8046720" cy="914400"/>
          </a:xfrm>
          <a:prstGeom prst="rect">
            <a:avLst/>
          </a:prstGeom>
          <a:noFill/>
          <a:ln/>
        </p:spPr>
        <p:txBody>
          <a:bodyPr wrap="square" rtlCol="0" anchor="t"/>
          <a:lstStyle/>
          <a:p>
            <a:pPr algn="l" indent="0" marL="0">
              <a:buNone/>
            </a:pPr>
            <a:r>
              <a:rPr lang="en-US" sz="2000" dirty="0">
                <a:solidFill>
                  <a:schemeClr val="accent2"/>
                </a:solidFill>
              </a:rPr>
              <a:t>"I will use AI to learn, to create and to help, and I will always be safe, honest and kind."</a:t>
            </a:r>
            <a:endParaRPr lang="en-US" sz="20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457200" y="274320"/>
            <a:ext cx="8229600" cy="731520"/>
          </a:xfrm>
          <a:prstGeom prst="rect">
            <a:avLst/>
          </a:prstGeom>
          <a:noFill/>
          <a:ln/>
        </p:spPr>
        <p:txBody>
          <a:bodyPr wrap="square" rtlCol="0" anchor="ctr"/>
          <a:lstStyle/>
          <a:p>
            <a:pPr indent="0" marL="0">
              <a:buNone/>
            </a:pPr>
            <a:r>
              <a:rPr lang="en-US" sz="3200" b="1" dirty="0">
                <a:solidFill>
                  <a:schemeClr val="tx1"/>
                </a:solidFill>
                <a:latin typeface="Arial" pitchFamily="34" charset="0"/>
                <a:ea typeface="Arial" pitchFamily="34" charset="-122"/>
                <a:cs typeface="Arial" pitchFamily="34" charset="-120"/>
              </a:rPr>
              <a:t>Show and tell</a:t>
            </a:r>
            <a:endParaRPr lang="en-US" sz="3200" dirty="0"/>
          </a:p>
        </p:txBody>
      </p:sp>
      <p:sp>
        <p:nvSpPr>
          <p:cNvPr id="3" name="card-115"/>
          <p:cNvSpPr/>
          <p:nvPr/>
        </p:nvSpPr>
        <p:spPr>
          <a:xfrm>
            <a:off x="457200" y="1280160"/>
            <a:ext cx="2606040" cy="2377440"/>
          </a:xfrm>
          <a:prstGeom prst="roundRect">
            <a:avLst>
              <a:gd name="adj" fmla="val 4615"/>
            </a:avLst>
          </a:prstGeom>
          <a:solidFill>
            <a:schemeClr val="bg1"/>
          </a:solidFill>
          <a:ln/>
        </p:spPr>
      </p:sp>
      <p:sp>
        <p:nvSpPr>
          <p:cNvPr id="4" name="Text 2"/>
          <p:cNvSpPr txBox="1"/>
          <p:nvPr/>
        </p:nvSpPr>
        <p:spPr>
          <a:xfrm>
            <a:off x="640080" y="1417320"/>
            <a:ext cx="914400" cy="822960"/>
          </a:xfrm>
          <a:prstGeom prst="rect">
            <a:avLst/>
          </a:prstGeom>
          <a:noFill/>
          <a:ln/>
        </p:spPr>
        <p:txBody>
          <a:bodyPr wrap="square" lIns="0" tIns="0" rIns="0" bIns="0" rtlCol="0" anchor="ctr"/>
          <a:lstStyle/>
          <a:p>
            <a:pPr indent="0" marL="0">
              <a:buNone/>
            </a:pPr>
            <a:r>
              <a:rPr lang="en-US" sz="4400" b="1" dirty="0">
                <a:solidFill>
                  <a:schemeClr val="accent1"/>
                </a:solidFill>
              </a:rPr>
              <a:t>1</a:t>
            </a:r>
            <a:endParaRPr lang="en-US" sz="4400" dirty="0"/>
          </a:p>
        </p:txBody>
      </p:sp>
      <p:sp>
        <p:nvSpPr>
          <p:cNvPr id="5" name="Text 3"/>
          <p:cNvSpPr txBox="1"/>
          <p:nvPr/>
        </p:nvSpPr>
        <p:spPr>
          <a:xfrm>
            <a:off x="640080" y="2286000"/>
            <a:ext cx="2240280" cy="1188720"/>
          </a:xfrm>
          <a:prstGeom prst="rect">
            <a:avLst/>
          </a:prstGeom>
          <a:noFill/>
          <a:ln/>
        </p:spPr>
        <p:txBody>
          <a:bodyPr wrap="square" lIns="0" tIns="0" rIns="0" bIns="0" rtlCol="0" anchor="t"/>
          <a:lstStyle/>
          <a:p>
            <a:pPr indent="0" marL="0">
              <a:buNone/>
            </a:pPr>
            <a:r>
              <a:rPr lang="en-US" sz="1700" b="1" dirty="0">
                <a:solidFill>
                  <a:schemeClr val="tx1"/>
                </a:solidFill>
              </a:rPr>
              <a:t>Show your Rock-Paper-Scissors AI working</a:t>
            </a:r>
            <a:endParaRPr lang="en-US" sz="1700" dirty="0"/>
          </a:p>
        </p:txBody>
      </p:sp>
      <p:sp>
        <p:nvSpPr>
          <p:cNvPr id="6" name="card-116"/>
          <p:cNvSpPr/>
          <p:nvPr/>
        </p:nvSpPr>
        <p:spPr>
          <a:xfrm>
            <a:off x="3246120" y="1280160"/>
            <a:ext cx="2606040" cy="2377440"/>
          </a:xfrm>
          <a:prstGeom prst="roundRect">
            <a:avLst>
              <a:gd name="adj" fmla="val 4615"/>
            </a:avLst>
          </a:prstGeom>
          <a:solidFill>
            <a:schemeClr val="bg1"/>
          </a:solidFill>
          <a:ln/>
        </p:spPr>
      </p:sp>
      <p:sp>
        <p:nvSpPr>
          <p:cNvPr id="7" name="Text 5"/>
          <p:cNvSpPr txBox="1"/>
          <p:nvPr/>
        </p:nvSpPr>
        <p:spPr>
          <a:xfrm>
            <a:off x="3429000" y="1417320"/>
            <a:ext cx="914400" cy="822960"/>
          </a:xfrm>
          <a:prstGeom prst="rect">
            <a:avLst/>
          </a:prstGeom>
          <a:noFill/>
          <a:ln/>
        </p:spPr>
        <p:txBody>
          <a:bodyPr wrap="square" lIns="0" tIns="0" rIns="0" bIns="0" rtlCol="0" anchor="ctr"/>
          <a:lstStyle/>
          <a:p>
            <a:pPr indent="0" marL="0">
              <a:buNone/>
            </a:pPr>
            <a:r>
              <a:rPr lang="en-US" sz="4400" b="1" dirty="0">
                <a:solidFill>
                  <a:schemeClr val="accent1"/>
                </a:solidFill>
              </a:rPr>
              <a:t>2</a:t>
            </a:r>
            <a:endParaRPr lang="en-US" sz="4400" dirty="0"/>
          </a:p>
        </p:txBody>
      </p:sp>
      <p:sp>
        <p:nvSpPr>
          <p:cNvPr id="8" name="Text 6"/>
          <p:cNvSpPr txBox="1"/>
          <p:nvPr/>
        </p:nvSpPr>
        <p:spPr>
          <a:xfrm>
            <a:off x="3429000" y="2286000"/>
            <a:ext cx="2240280" cy="1188720"/>
          </a:xfrm>
          <a:prstGeom prst="rect">
            <a:avLst/>
          </a:prstGeom>
          <a:noFill/>
          <a:ln/>
        </p:spPr>
        <p:txBody>
          <a:bodyPr wrap="square" lIns="0" tIns="0" rIns="0" bIns="0" rtlCol="0" anchor="t"/>
          <a:lstStyle/>
          <a:p>
            <a:pPr indent="0" marL="0">
              <a:buNone/>
            </a:pPr>
            <a:r>
              <a:rPr lang="en-US" sz="1700" b="1" dirty="0">
                <a:solidFill>
                  <a:schemeClr val="tx1"/>
                </a:solidFill>
              </a:rPr>
              <a:t>Tell us one thing that made it smarter</a:t>
            </a:r>
            <a:endParaRPr lang="en-US" sz="1700" dirty="0"/>
          </a:p>
        </p:txBody>
      </p:sp>
      <p:sp>
        <p:nvSpPr>
          <p:cNvPr id="9" name="card-117"/>
          <p:cNvSpPr/>
          <p:nvPr/>
        </p:nvSpPr>
        <p:spPr>
          <a:xfrm>
            <a:off x="6035040" y="1280160"/>
            <a:ext cx="2606040" cy="2377440"/>
          </a:xfrm>
          <a:prstGeom prst="roundRect">
            <a:avLst>
              <a:gd name="adj" fmla="val 4615"/>
            </a:avLst>
          </a:prstGeom>
          <a:solidFill>
            <a:schemeClr val="bg1"/>
          </a:solidFill>
          <a:ln/>
        </p:spPr>
      </p:sp>
      <p:sp>
        <p:nvSpPr>
          <p:cNvPr id="10" name="Text 8"/>
          <p:cNvSpPr txBox="1"/>
          <p:nvPr/>
        </p:nvSpPr>
        <p:spPr>
          <a:xfrm>
            <a:off x="6217920" y="1417320"/>
            <a:ext cx="914400" cy="822960"/>
          </a:xfrm>
          <a:prstGeom prst="rect">
            <a:avLst/>
          </a:prstGeom>
          <a:noFill/>
          <a:ln/>
        </p:spPr>
        <p:txBody>
          <a:bodyPr wrap="square" lIns="0" tIns="0" rIns="0" bIns="0" rtlCol="0" anchor="ctr"/>
          <a:lstStyle/>
          <a:p>
            <a:pPr indent="0" marL="0">
              <a:buNone/>
            </a:pPr>
            <a:r>
              <a:rPr lang="en-US" sz="4400" b="1" dirty="0">
                <a:solidFill>
                  <a:schemeClr val="accent1"/>
                </a:solidFill>
              </a:rPr>
              <a:t>3</a:t>
            </a:r>
            <a:endParaRPr lang="en-US" sz="4400" dirty="0"/>
          </a:p>
        </p:txBody>
      </p:sp>
      <p:sp>
        <p:nvSpPr>
          <p:cNvPr id="11" name="Text 9"/>
          <p:cNvSpPr txBox="1"/>
          <p:nvPr/>
        </p:nvSpPr>
        <p:spPr>
          <a:xfrm>
            <a:off x="6217920" y="2286000"/>
            <a:ext cx="2240280" cy="1188720"/>
          </a:xfrm>
          <a:prstGeom prst="rect">
            <a:avLst/>
          </a:prstGeom>
          <a:noFill/>
          <a:ln/>
        </p:spPr>
        <p:txBody>
          <a:bodyPr wrap="square" lIns="0" tIns="0" rIns="0" bIns="0" rtlCol="0" anchor="t"/>
          <a:lstStyle/>
          <a:p>
            <a:pPr indent="0" marL="0">
              <a:buNone/>
            </a:pPr>
            <a:r>
              <a:rPr lang="en-US" sz="1700" b="1" dirty="0">
                <a:solidFill>
                  <a:schemeClr val="tx1"/>
                </a:solidFill>
              </a:rPr>
              <a:t>Share one rule you will follow</a:t>
            </a:r>
            <a:endParaRPr lang="en-US" sz="1700" dirty="0"/>
          </a:p>
        </p:txBody>
      </p:sp>
      <p:sp>
        <p:nvSpPr>
          <p:cNvPr id="12" name="Text 10"/>
          <p:cNvSpPr txBox="1"/>
          <p:nvPr/>
        </p:nvSpPr>
        <p:spPr>
          <a:xfrm>
            <a:off x="457200" y="3931920"/>
            <a:ext cx="8229600" cy="411480"/>
          </a:xfrm>
          <a:prstGeom prst="rect">
            <a:avLst/>
          </a:prstGeom>
          <a:noFill/>
          <a:ln/>
        </p:spPr>
        <p:txBody>
          <a:bodyPr wrap="square" lIns="0" tIns="0" rIns="0" bIns="0" rtlCol="0" anchor="ctr"/>
          <a:lstStyle/>
          <a:p>
            <a:pPr indent="0" marL="0">
              <a:buNone/>
            </a:pPr>
            <a:r>
              <a:rPr lang="en-US" sz="1500" i="1" dirty="0">
                <a:solidFill>
                  <a:schemeClr val="tx2"/>
                </a:solidFill>
              </a:rPr>
              <a:t>1 minute per group · everyone claps for everyone</a:t>
            </a:r>
            <a:endParaRPr lang="en-US" sz="1500" dirty="0"/>
          </a:p>
        </p:txBody>
      </p:sp>
      <p:sp>
        <p:nvSpPr>
          <p:cNvPr id="25" name="Slide Number Placeholder 0"/>
          <p:cNvSpPr>
            <a:spLocks noGrp="1"/>
          </p:cNvSpPr>
          <p:nvPr>
            <p:ph type="sldNum" sz="quarter" idx="4294967295"/>
          </p:nvPr>
        </p:nvSpPr>
        <p:spPr>
          <a:xfrm>
            <a:off x="8229600" y="4754880"/>
            <a:ext cx="457200" cy="274320"/>
          </a:xfrm>
          <a:prstGeom prst="rect">
            <a:avLst/>
          </a:prstGeom>
          <a:extLst>
            <a:ext uri="{C572A759-6A51-4108-AA02-DFA0A04FC94B}">
              <ma14:wrappingTextBoxFlag xmlns:ma14="http://schemas.microsoft.com/office/mac/drawingml/2011/main" val="0"/>
            </a:ext>
          </a:extLst>
        </p:spPr>
        <p:txBody>
          <a:bodyPr/>
          <a:lstStyle>
            <a:lvl1pPr>
              <a:defRPr sz="900">
                <a:solidFill>
                  <a:srgbClr val="8A8A8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548640" y="502920"/>
            <a:ext cx="5669280" cy="731520"/>
          </a:xfrm>
          <a:prstGeom prst="rect">
            <a:avLst/>
          </a:prstGeom>
          <a:noFill/>
          <a:ln/>
        </p:spPr>
        <p:txBody>
          <a:bodyPr wrap="square" lIns="0" tIns="0" rIns="0" bIns="0" rtlCol="0" anchor="ctr"/>
          <a:lstStyle/>
          <a:p>
            <a:pPr indent="0" marL="0">
              <a:buNone/>
            </a:pPr>
            <a:r>
              <a:rPr lang="en-US" sz="3600" b="1" dirty="0">
                <a:solidFill>
                  <a:schemeClr val="bg1"/>
                </a:solidFill>
              </a:rPr>
              <a:t>Want to build more?</a:t>
            </a:r>
            <a:endParaRPr lang="en-US" sz="3600" dirty="0"/>
          </a:p>
        </p:txBody>
      </p:sp>
      <p:sp>
        <p:nvSpPr>
          <p:cNvPr id="3" name="Text 1"/>
          <p:cNvSpPr txBox="1"/>
          <p:nvPr/>
        </p:nvSpPr>
        <p:spPr>
          <a:xfrm>
            <a:off x="548640" y="1234440"/>
            <a:ext cx="5669280" cy="411480"/>
          </a:xfrm>
          <a:prstGeom prst="rect">
            <a:avLst/>
          </a:prstGeom>
          <a:noFill/>
          <a:ln/>
        </p:spPr>
        <p:txBody>
          <a:bodyPr wrap="square" lIns="0" tIns="0" rIns="0" bIns="0" rtlCol="0" anchor="ctr"/>
          <a:lstStyle/>
          <a:p>
            <a:pPr indent="0" marL="0">
              <a:buNone/>
            </a:pPr>
            <a:r>
              <a:rPr lang="en-US" sz="1600" dirty="0">
                <a:solidFill>
                  <a:schemeClr val="accent2"/>
                </a:solidFill>
              </a:rPr>
              <a:t>AI classes for Classes 6–12, from basics to advanced</a:t>
            </a:r>
            <a:endParaRPr lang="en-US" sz="1600" dirty="0"/>
          </a:p>
        </p:txBody>
      </p:sp>
      <p:sp>
        <p:nvSpPr>
          <p:cNvPr id="4" name="lvl-118"/>
          <p:cNvSpPr/>
          <p:nvPr/>
        </p:nvSpPr>
        <p:spPr>
          <a:xfrm>
            <a:off x="548640" y="1828800"/>
            <a:ext cx="5669280" cy="658368"/>
          </a:xfrm>
          <a:prstGeom prst="roundRect">
            <a:avLst>
              <a:gd name="adj" fmla="val 13889"/>
            </a:avLst>
          </a:prstGeom>
          <a:solidFill>
            <a:schemeClr val="tx2"/>
          </a:solidFill>
          <a:ln/>
        </p:spPr>
      </p:sp>
      <p:sp>
        <p:nvSpPr>
          <p:cNvPr id="5" name="Text 3"/>
          <p:cNvSpPr txBox="1"/>
          <p:nvPr/>
        </p:nvSpPr>
        <p:spPr>
          <a:xfrm>
            <a:off x="731520" y="1828800"/>
            <a:ext cx="2103120" cy="658368"/>
          </a:xfrm>
          <a:prstGeom prst="rect">
            <a:avLst/>
          </a:prstGeom>
          <a:noFill/>
          <a:ln/>
        </p:spPr>
        <p:txBody>
          <a:bodyPr wrap="square" lIns="0" tIns="0" rIns="0" bIns="0" rtlCol="0" anchor="ctr"/>
          <a:lstStyle/>
          <a:p>
            <a:pPr indent="0" marL="0">
              <a:buNone/>
            </a:pPr>
            <a:r>
              <a:rPr lang="en-US" sz="1500" b="1" dirty="0">
                <a:solidFill>
                  <a:schemeClr val="bg1"/>
                </a:solidFill>
              </a:rPr>
              <a:t>Level 1 · Basics</a:t>
            </a:r>
            <a:endParaRPr lang="en-US" sz="1500" dirty="0"/>
          </a:p>
        </p:txBody>
      </p:sp>
      <p:sp>
        <p:nvSpPr>
          <p:cNvPr id="6" name="Text 4"/>
          <p:cNvSpPr txBox="1"/>
          <p:nvPr/>
        </p:nvSpPr>
        <p:spPr>
          <a:xfrm>
            <a:off x="2834640" y="1828800"/>
            <a:ext cx="3291840" cy="658368"/>
          </a:xfrm>
          <a:prstGeom prst="rect">
            <a:avLst/>
          </a:prstGeom>
          <a:noFill/>
          <a:ln/>
        </p:spPr>
        <p:txBody>
          <a:bodyPr wrap="square" lIns="0" tIns="0" rIns="0" bIns="0" rtlCol="0" anchor="ctr"/>
          <a:lstStyle/>
          <a:p>
            <a:pPr indent="0" marL="0">
              <a:buNone/>
            </a:pPr>
            <a:r>
              <a:rPr lang="en-US" sz="1300" dirty="0">
                <a:solidFill>
                  <a:schemeClr val="bg1"/>
                </a:solidFill>
              </a:rPr>
              <a:t>Discover AI, safe use, first game</a:t>
            </a:r>
            <a:endParaRPr lang="en-US" sz="1300" dirty="0"/>
          </a:p>
        </p:txBody>
      </p:sp>
      <p:sp>
        <p:nvSpPr>
          <p:cNvPr id="7" name="lvl-119"/>
          <p:cNvSpPr/>
          <p:nvPr/>
        </p:nvSpPr>
        <p:spPr>
          <a:xfrm>
            <a:off x="548640" y="2606040"/>
            <a:ext cx="5669280" cy="658368"/>
          </a:xfrm>
          <a:prstGeom prst="roundRect">
            <a:avLst>
              <a:gd name="adj" fmla="val 13889"/>
            </a:avLst>
          </a:prstGeom>
          <a:solidFill>
            <a:schemeClr val="tx2"/>
          </a:solidFill>
          <a:ln/>
        </p:spPr>
      </p:sp>
      <p:sp>
        <p:nvSpPr>
          <p:cNvPr id="8" name="Text 6"/>
          <p:cNvSpPr txBox="1"/>
          <p:nvPr/>
        </p:nvSpPr>
        <p:spPr>
          <a:xfrm>
            <a:off x="731520" y="2606040"/>
            <a:ext cx="2103120" cy="658368"/>
          </a:xfrm>
          <a:prstGeom prst="rect">
            <a:avLst/>
          </a:prstGeom>
          <a:noFill/>
          <a:ln/>
        </p:spPr>
        <p:txBody>
          <a:bodyPr wrap="square" lIns="0" tIns="0" rIns="0" bIns="0" rtlCol="0" anchor="ctr"/>
          <a:lstStyle/>
          <a:p>
            <a:pPr indent="0" marL="0">
              <a:buNone/>
            </a:pPr>
            <a:r>
              <a:rPr lang="en-US" sz="1500" b="1" dirty="0">
                <a:solidFill>
                  <a:schemeClr val="bg1"/>
                </a:solidFill>
              </a:rPr>
              <a:t>Level 2 · Builder</a:t>
            </a:r>
            <a:endParaRPr lang="en-US" sz="1500" dirty="0"/>
          </a:p>
        </p:txBody>
      </p:sp>
      <p:sp>
        <p:nvSpPr>
          <p:cNvPr id="9" name="Text 7"/>
          <p:cNvSpPr txBox="1"/>
          <p:nvPr/>
        </p:nvSpPr>
        <p:spPr>
          <a:xfrm>
            <a:off x="2834640" y="2606040"/>
            <a:ext cx="3291840" cy="658368"/>
          </a:xfrm>
          <a:prstGeom prst="rect">
            <a:avLst/>
          </a:prstGeom>
          <a:noFill/>
          <a:ln/>
        </p:spPr>
        <p:txBody>
          <a:bodyPr wrap="square" lIns="0" tIns="0" rIns="0" bIns="0" rtlCol="0" anchor="ctr"/>
          <a:lstStyle/>
          <a:p>
            <a:pPr indent="0" marL="0">
              <a:buNone/>
            </a:pPr>
            <a:r>
              <a:rPr lang="en-US" sz="1300" dirty="0">
                <a:solidFill>
                  <a:schemeClr val="bg1"/>
                </a:solidFill>
              </a:rPr>
              <a:t>Bigger games, your own AI model, chatbot</a:t>
            </a:r>
            <a:endParaRPr lang="en-US" sz="1300" dirty="0"/>
          </a:p>
        </p:txBody>
      </p:sp>
      <p:sp>
        <p:nvSpPr>
          <p:cNvPr id="10" name="lvl-120"/>
          <p:cNvSpPr/>
          <p:nvPr/>
        </p:nvSpPr>
        <p:spPr>
          <a:xfrm>
            <a:off x="548640" y="3383280"/>
            <a:ext cx="5669280" cy="658368"/>
          </a:xfrm>
          <a:prstGeom prst="roundRect">
            <a:avLst>
              <a:gd name="adj" fmla="val 13889"/>
            </a:avLst>
          </a:prstGeom>
          <a:solidFill>
            <a:schemeClr val="accent1"/>
          </a:solidFill>
          <a:ln/>
        </p:spPr>
      </p:sp>
      <p:sp>
        <p:nvSpPr>
          <p:cNvPr id="11" name="Text 9"/>
          <p:cNvSpPr txBox="1"/>
          <p:nvPr/>
        </p:nvSpPr>
        <p:spPr>
          <a:xfrm>
            <a:off x="731520" y="3383280"/>
            <a:ext cx="2103120" cy="658368"/>
          </a:xfrm>
          <a:prstGeom prst="rect">
            <a:avLst/>
          </a:prstGeom>
          <a:noFill/>
          <a:ln/>
        </p:spPr>
        <p:txBody>
          <a:bodyPr wrap="square" lIns="0" tIns="0" rIns="0" bIns="0" rtlCol="0" anchor="ctr"/>
          <a:lstStyle/>
          <a:p>
            <a:pPr indent="0" marL="0">
              <a:buNone/>
            </a:pPr>
            <a:r>
              <a:rPr lang="en-US" sz="1500" b="1" dirty="0">
                <a:solidFill>
                  <a:schemeClr val="bg1"/>
                </a:solidFill>
              </a:rPr>
              <a:t>Level 3 · Advanced</a:t>
            </a:r>
            <a:endParaRPr lang="en-US" sz="1500" dirty="0"/>
          </a:p>
        </p:txBody>
      </p:sp>
      <p:sp>
        <p:nvSpPr>
          <p:cNvPr id="12" name="Text 10"/>
          <p:cNvSpPr txBox="1"/>
          <p:nvPr/>
        </p:nvSpPr>
        <p:spPr>
          <a:xfrm>
            <a:off x="2834640" y="3383280"/>
            <a:ext cx="3291840" cy="658368"/>
          </a:xfrm>
          <a:prstGeom prst="rect">
            <a:avLst/>
          </a:prstGeom>
          <a:noFill/>
          <a:ln/>
        </p:spPr>
        <p:txBody>
          <a:bodyPr wrap="square" lIns="0" tIns="0" rIns="0" bIns="0" rtlCol="0" anchor="ctr"/>
          <a:lstStyle/>
          <a:p>
            <a:pPr indent="0" marL="0">
              <a:buNone/>
            </a:pPr>
            <a:r>
              <a:rPr lang="en-US" sz="1300" dirty="0">
                <a:solidFill>
                  <a:schemeClr val="bg1"/>
                </a:solidFill>
              </a:rPr>
              <a:t>Real coding with Python and HTML</a:t>
            </a:r>
            <a:endParaRPr lang="en-US" sz="1300" dirty="0"/>
          </a:p>
        </p:txBody>
      </p:sp>
      <p:sp>
        <p:nvSpPr>
          <p:cNvPr id="13" name="Text 11"/>
          <p:cNvSpPr txBox="1"/>
          <p:nvPr/>
        </p:nvSpPr>
        <p:spPr>
          <a:xfrm>
            <a:off x="548640" y="4206240"/>
            <a:ext cx="5669280" cy="365760"/>
          </a:xfrm>
          <a:prstGeom prst="rect">
            <a:avLst/>
          </a:prstGeom>
          <a:noFill/>
          <a:ln/>
        </p:spPr>
        <p:txBody>
          <a:bodyPr wrap="square" lIns="0" tIns="0" rIns="0" bIns="0" rtlCol="0" anchor="ctr"/>
          <a:lstStyle/>
          <a:p>
            <a:pPr indent="0" marL="0">
              <a:buNone/>
            </a:pPr>
            <a:r>
              <a:rPr lang="en-US" sz="1200" dirty="0">
                <a:solidFill>
                  <a:schemeClr val="bg1"/>
                </a:solidFill>
              </a:rPr>
              <a:t>Weekend batches in Rewari + online · first 20 students: free admission</a:t>
            </a:r>
            <a:endParaRPr lang="en-US" sz="1200" dirty="0"/>
          </a:p>
        </p:txBody>
      </p:sp>
      <p:sp>
        <p:nvSpPr>
          <p:cNvPr id="14" name="qrbg-121"/>
          <p:cNvSpPr/>
          <p:nvPr/>
        </p:nvSpPr>
        <p:spPr>
          <a:xfrm>
            <a:off x="6675120" y="1325880"/>
            <a:ext cx="2011680" cy="2011680"/>
          </a:xfrm>
          <a:prstGeom prst="roundRect">
            <a:avLst>
              <a:gd name="adj" fmla="val 5455"/>
            </a:avLst>
          </a:prstGeom>
          <a:solidFill>
            <a:schemeClr val="bg1"/>
          </a:solidFill>
          <a:ln/>
        </p:spPr>
      </p:sp>
      <p:pic>
        <p:nvPicPr>
          <p:cNvPr id="15" name="qr-122" descr="QR code to themanishchauhan.in/ai-courses">    </p:cNvPr>
          <p:cNvPicPr>
            <a:picLocks noChangeAspect="1"/>
          </p:cNvPicPr>
          <p:nvPr/>
        </p:nvPicPr>
        <p:blipFill>
          <a:blip r:embed="rId1"/>
          <a:stretch>
            <a:fillRect/>
          </a:stretch>
        </p:blipFill>
        <p:spPr>
          <a:xfrm>
            <a:off x="6766560" y="1417320"/>
            <a:ext cx="1828800" cy="1828800"/>
          </a:xfrm>
          <a:prstGeom prst="rect">
            <a:avLst/>
          </a:prstGeom>
        </p:spPr>
      </p:pic>
      <p:sp>
        <p:nvSpPr>
          <p:cNvPr id="16" name="Text 13"/>
          <p:cNvSpPr txBox="1"/>
          <p:nvPr/>
        </p:nvSpPr>
        <p:spPr>
          <a:xfrm>
            <a:off x="6492240" y="3429000"/>
            <a:ext cx="2377440" cy="320040"/>
          </a:xfrm>
          <a:prstGeom prst="rect">
            <a:avLst/>
          </a:prstGeom>
          <a:noFill/>
          <a:ln/>
        </p:spPr>
        <p:txBody>
          <a:bodyPr wrap="square" lIns="0" tIns="0" rIns="0" bIns="0" rtlCol="0" anchor="ctr"/>
          <a:lstStyle/>
          <a:p>
            <a:pPr algn="ctr" indent="0" marL="0">
              <a:buNone/>
            </a:pPr>
            <a:r>
              <a:rPr lang="en-US" sz="1200" b="1" dirty="0">
                <a:solidFill>
                  <a:schemeClr val="accent2"/>
                </a:solidFill>
              </a:rPr>
              <a:t>Ask your parents to scan</a:t>
            </a:r>
            <a:endParaRPr lang="en-US" sz="1200" dirty="0"/>
          </a:p>
        </p:txBody>
      </p:sp>
      <p:sp>
        <p:nvSpPr>
          <p:cNvPr id="17" name="Text 14"/>
          <p:cNvSpPr txBox="1"/>
          <p:nvPr/>
        </p:nvSpPr>
        <p:spPr>
          <a:xfrm>
            <a:off x="6492240" y="3749040"/>
            <a:ext cx="2377440" cy="320040"/>
          </a:xfrm>
          <a:prstGeom prst="rect">
            <a:avLst/>
          </a:prstGeom>
          <a:noFill/>
          <a:ln/>
        </p:spPr>
        <p:txBody>
          <a:bodyPr wrap="square" lIns="0" tIns="0" rIns="0" bIns="0" rtlCol="0" anchor="ctr"/>
          <a:lstStyle/>
          <a:p>
            <a:pPr algn="ctr" indent="0" marL="0">
              <a:buNone/>
            </a:pPr>
            <a:r>
              <a:rPr lang="en-US" sz="1200" dirty="0">
                <a:solidFill>
                  <a:schemeClr val="bg1"/>
                </a:solidFill>
              </a:rPr>
              <a:t>WhatsApp +91 70150 66237</a:t>
            </a:r>
            <a:endParaRPr lang="en-US" sz="1200" dirty="0"/>
          </a:p>
        </p:txBody>
      </p:sp>
      <p:sp>
        <p:nvSpPr>
          <p:cNvPr id="19" name="Text 0"/>
          <p:cNvSpPr/>
          <p:nvPr>
            <p:ph idx="100" type="title" hasCustomPrompt="1"/>
          </p:nvPr>
        </p:nvSpPr>
        <p:spPr>
          <a:xfrm>
            <a:off x="548640" y="1417320"/>
            <a:ext cx="8046720" cy="1371600"/>
          </a:xfrm>
          <a:prstGeom prst="rect">
            <a:avLst/>
          </a:prstGeom>
          <a:noFill/>
          <a:ln/>
        </p:spPr>
        <p:txBody>
          <a:bodyPr wrap="square" rtlCol="0" anchor="t"/>
          <a:lstStyle/>
          <a:p>
            <a:pPr algn="l" indent="0" marL="0">
              <a:buNone/>
            </a:pPr>
            <a:endParaRPr lang="en-US" sz="4400" dirty="0"/>
          </a:p>
        </p:txBody>
      </p:sp>
      <p:sp>
        <p:nvSpPr>
          <p:cNvPr id="20" name="Text 0"/>
          <p:cNvSpPr/>
          <p:nvPr>
            <p:ph idx="101" type="body" hasCustomPrompt="1"/>
          </p:nvPr>
        </p:nvSpPr>
        <p:spPr>
          <a:xfrm>
            <a:off x="548640" y="2880360"/>
            <a:ext cx="8046720" cy="914400"/>
          </a:xfrm>
          <a:prstGeom prst="rect">
            <a:avLst/>
          </a:prstGeom>
          <a:noFill/>
          <a:ln/>
        </p:spPr>
        <p:txBody>
          <a:bodyPr wrap="square" rtlCol="0" anchor="t"/>
          <a:lstStyle/>
          <a:p>
            <a:pPr algn="l" indent="0" marL="0">
              <a:buNone/>
            </a:pPr>
            <a:endParaRPr lang="en-US" sz="2000" dirty="0"/>
          </a:p>
        </p:txBody>
      </p:sp>
    </p:spTree>
  </p:cSld>
  <p:clrMapOvr>
    <a:masterClrMapping/>
  </p:clrMapOvr>
</p:sld>
</file>

<file path=ppt/theme/theme1.xml><?xml version="1.0" encoding="utf-8"?>
<a:theme xmlns:a="http://schemas.openxmlformats.org/drawingml/2006/main" name="AI Workshop">
  <a:themeElements>
    <a:clrScheme name="AI Workshop">
      <a:dk1>
        <a:srgbClr val="111111"/>
      </a:dk1>
      <a:lt1>
        <a:srgbClr val="FFFFFF"/>
      </a:lt1>
      <a:dk2>
        <a:srgbClr val="3A3A3A"/>
      </a:dk2>
      <a:lt2>
        <a:srgbClr val="FFF1EA"/>
      </a:lt2>
      <a:accent1>
        <a:srgbClr val="FF5A1F"/>
      </a:accent1>
      <a:accent2>
        <a:srgbClr val="FFC233"/>
      </a:accent2>
      <a:accent3>
        <a:srgbClr val="2BB3A3"/>
      </a:accent3>
      <a:accent4>
        <a:srgbClr val="5B7CFA"/>
      </a:accent4>
      <a:accent5>
        <a:srgbClr val="E84B8A"/>
      </a:accent5>
      <a:accent6>
        <a:srgbClr val="8A8A8A"/>
      </a:accent6>
      <a:hlink>
        <a:srgbClr val="FF5A1F"/>
      </a:hlink>
      <a:folHlink>
        <a:srgbClr val="B8461A"/>
      </a:folHlink>
    </a:clrScheme>
    <a:fontScheme name="AI Workshop">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Let's Learn AI – Free AI Workshop (Classes 6–8)</dc:title>
  <dc:subject>PptxGenJS Presentation</dc:subject>
  <dc:creator>Manish Chauhan</dc:creator>
  <cp:lastModifiedBy>Manish Chauhan</cp:lastModifiedBy>
  <cp:revision>1</cp:revision>
  <dcterms:created xsi:type="dcterms:W3CDTF">2026-10-29T08:23:38Z</dcterms:created>
  <dcterms:modified xsi:type="dcterms:W3CDTF">2026-10-29T08:23:38Z</dcterms:modified>
</cp:coreProperties>
</file>